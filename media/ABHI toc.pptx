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2"/>
  </p:notesMasterIdLst>
  <p:sldIdLst>
    <p:sldId id="321" r:id="rId2"/>
    <p:sldId id="499" r:id="rId3"/>
    <p:sldId id="491" r:id="rId4"/>
    <p:sldId id="492" r:id="rId5"/>
    <p:sldId id="493" r:id="rId6"/>
    <p:sldId id="494" r:id="rId7"/>
    <p:sldId id="495" r:id="rId8"/>
    <p:sldId id="496" r:id="rId9"/>
    <p:sldId id="497" r:id="rId10"/>
    <p:sldId id="498" r:id="rId11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0486C3-62D9-4F00-990D-A89228F5E09A}" type="datetimeFigureOut">
              <a:rPr lang="en-IN" smtClean="0"/>
              <a:t>28-04-2024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877794-E443-4BC7-AC8A-8144249811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37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88123" y="1560269"/>
            <a:ext cx="10363200" cy="1162050"/>
          </a:xfrm>
          <a:solidFill>
            <a:srgbClr val="000051"/>
          </a:solidFill>
        </p:spPr>
        <p:txBody>
          <a:bodyPr/>
          <a:lstStyle>
            <a:lvl1pPr>
              <a:defRPr b="1">
                <a:solidFill>
                  <a:schemeClr val="bg1"/>
                </a:solidFill>
                <a:latin typeface="Cambria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88123" y="3110279"/>
            <a:ext cx="10363200" cy="762000"/>
          </a:xfrm>
          <a:solidFill>
            <a:srgbClr val="FFC000"/>
          </a:solidFill>
        </p:spPr>
        <p:txBody>
          <a:bodyPr anchor="ctr"/>
          <a:lstStyle>
            <a:lvl1pPr marL="0" indent="0" algn="l">
              <a:buNone/>
              <a:defRPr b="1">
                <a:solidFill>
                  <a:schemeClr val="tx1"/>
                </a:solidFill>
                <a:latin typeface="Cambria" panose="020405030504060302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90600"/>
            <a:ext cx="1625600" cy="457200"/>
          </a:xfrm>
          <a:prstGeom prst="rect">
            <a:avLst/>
          </a:prstGeom>
          <a:solidFill>
            <a:srgbClr val="FFD54F"/>
          </a:solidFill>
          <a:ln>
            <a:solidFill>
              <a:srgbClr val="FFD5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rgbClr val="002060"/>
                </a:solidFill>
              </a:rPr>
              <a:t>PRESIDENCY COLLEGE </a:t>
            </a:r>
          </a:p>
          <a:p>
            <a:pPr algn="ctr"/>
            <a:r>
              <a:rPr lang="en-US" sz="1000" b="1" dirty="0">
                <a:solidFill>
                  <a:srgbClr val="002060"/>
                </a:solidFill>
              </a:rPr>
              <a:t>(Autonomous)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8" name="Picture 7" descr="Image preview">
            <a:extLst>
              <a:ext uri="{FF2B5EF4-FFF2-40B4-BE49-F238E27FC236}">
                <a16:creationId xmlns:a16="http://schemas.microsoft.com/office/drawing/2014/main" id="{6A3F610A-891D-4D48-AE49-49538A82C18E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0" y="4648200"/>
            <a:ext cx="8839200" cy="1524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36147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479926"/>
            <a:ext cx="10261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601098" y="228600"/>
            <a:ext cx="10387703" cy="83820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625600" y="1143000"/>
            <a:ext cx="10566400" cy="0"/>
          </a:xfrm>
          <a:prstGeom prst="line">
            <a:avLst/>
          </a:prstGeom>
          <a:ln w="28575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9978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1098" y="228600"/>
            <a:ext cx="10387703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4800" y="1219202"/>
            <a:ext cx="5181600" cy="4876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08800" y="1219202"/>
            <a:ext cx="5181600" cy="4876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625600" y="1143000"/>
            <a:ext cx="10566400" cy="0"/>
          </a:xfrm>
          <a:prstGeom prst="line">
            <a:avLst/>
          </a:prstGeom>
          <a:ln w="28575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6011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7453" y="304801"/>
            <a:ext cx="10291348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7453" y="1219200"/>
            <a:ext cx="510974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97453" y="2119311"/>
            <a:ext cx="5109748" cy="40100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030968" y="1219200"/>
            <a:ext cx="4957832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30968" y="2119311"/>
            <a:ext cx="4957832" cy="40100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625600" y="1143000"/>
            <a:ext cx="10566400" cy="0"/>
          </a:xfrm>
          <a:prstGeom prst="line">
            <a:avLst/>
          </a:prstGeom>
          <a:ln w="28575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0468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1098" y="152400"/>
            <a:ext cx="10387703" cy="91440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625600" y="1143000"/>
            <a:ext cx="10566400" cy="0"/>
          </a:xfrm>
          <a:prstGeom prst="line">
            <a:avLst/>
          </a:prstGeom>
          <a:ln w="28575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2345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1370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7363" y="608012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6600" y="1138238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57363" y="220821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3844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7200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791200" y="987427"/>
            <a:ext cx="60960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27200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72959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7200" y="152400"/>
            <a:ext cx="10261600" cy="91440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27200" y="1219202"/>
            <a:ext cx="10261600" cy="48761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625600" y="1143000"/>
            <a:ext cx="10566400" cy="0"/>
          </a:xfrm>
          <a:prstGeom prst="line">
            <a:avLst/>
          </a:prstGeom>
          <a:ln w="28575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7350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551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27201" y="365125"/>
            <a:ext cx="71755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6734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1" y="228600"/>
            <a:ext cx="10261599" cy="838200"/>
          </a:xfrm>
          <a:ln>
            <a:noFill/>
          </a:ln>
        </p:spPr>
        <p:txBody>
          <a:bodyPr>
            <a:normAutofit/>
          </a:bodyPr>
          <a:lstStyle>
            <a:lvl1pPr algn="l">
              <a:defRPr sz="27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5600" y="1219202"/>
            <a:ext cx="10261597" cy="5257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1625600" y="1143000"/>
            <a:ext cx="10566400" cy="0"/>
          </a:xfrm>
          <a:prstGeom prst="line">
            <a:avLst/>
          </a:prstGeom>
          <a:ln w="28575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8644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0" y="0"/>
            <a:ext cx="1625600" cy="685800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01098" y="228600"/>
            <a:ext cx="10387703" cy="11430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1098" y="1448476"/>
            <a:ext cx="10387703" cy="4646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1399944" y="6629738"/>
            <a:ext cx="10385656" cy="338"/>
          </a:xfrm>
          <a:prstGeom prst="line">
            <a:avLst/>
          </a:prstGeom>
          <a:ln w="228600">
            <a:solidFill>
              <a:srgbClr val="0000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15660000" flipH="1">
            <a:off x="11213649" y="6274138"/>
            <a:ext cx="533400" cy="711200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" name="Isosceles Triangle 23"/>
          <p:cNvSpPr/>
          <p:nvPr/>
        </p:nvSpPr>
        <p:spPr>
          <a:xfrm rot="15660000" flipH="1">
            <a:off x="11416849" y="6044862"/>
            <a:ext cx="533400" cy="711200"/>
          </a:xfrm>
          <a:prstGeom prst="triangle">
            <a:avLst>
              <a:gd name="adj" fmla="val 0"/>
            </a:avLst>
          </a:prstGeom>
          <a:solidFill>
            <a:srgbClr val="000050"/>
          </a:solidFill>
          <a:ln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5" name="Isosceles Triangle 24"/>
          <p:cNvSpPr/>
          <p:nvPr/>
        </p:nvSpPr>
        <p:spPr>
          <a:xfrm rot="15660000" flipH="1">
            <a:off x="11254247" y="6197263"/>
            <a:ext cx="533400" cy="711200"/>
          </a:xfrm>
          <a:prstGeom prst="triangle">
            <a:avLst>
              <a:gd name="adj" fmla="val 0"/>
            </a:avLst>
          </a:prstGeom>
          <a:solidFill>
            <a:srgbClr val="FFD54F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88" y="114042"/>
            <a:ext cx="1192216" cy="811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-74142" y="3449936"/>
            <a:ext cx="1773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i="1" dirty="0">
                <a:solidFill>
                  <a:srgbClr val="C00000"/>
                </a:solidFill>
                <a:latin typeface="Cambria" panose="02040503050406030204" pitchFamily="18" charset="0"/>
              </a:rPr>
              <a:t>Reaccredited</a:t>
            </a:r>
            <a:r>
              <a:rPr lang="en-IN" sz="1200" b="1" i="1" baseline="0" dirty="0">
                <a:solidFill>
                  <a:srgbClr val="C00000"/>
                </a:solidFill>
                <a:latin typeface="Cambria" panose="02040503050406030204" pitchFamily="18" charset="0"/>
              </a:rPr>
              <a:t> by NAAC with A+</a:t>
            </a:r>
            <a:endParaRPr lang="en-US" sz="1200" b="1" i="1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pic>
        <p:nvPicPr>
          <p:cNvPr id="13" name="Picture 12"/>
          <p:cNvPicPr/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749" y="5316484"/>
            <a:ext cx="1117599" cy="1576133"/>
          </a:xfrm>
          <a:prstGeom prst="rect">
            <a:avLst/>
          </a:prstGeom>
        </p:spPr>
      </p:pic>
      <p:sp>
        <p:nvSpPr>
          <p:cNvPr id="15" name="Text Box 1073741934"/>
          <p:cNvSpPr txBox="1"/>
          <p:nvPr/>
        </p:nvSpPr>
        <p:spPr>
          <a:xfrm>
            <a:off x="241749" y="4876800"/>
            <a:ext cx="1117601" cy="4572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 dirty="0">
                <a:solidFill>
                  <a:srgbClr val="FFFFFF"/>
                </a:solidFill>
                <a:effectLst/>
                <a:latin typeface="Cambria" panose="02040503050406030204" pitchFamily="18" charset="0"/>
                <a:ea typeface="Arial" panose="020B0604020202020204" pitchFamily="34" charset="0"/>
              </a:rPr>
              <a:t>Presidency    Group</a:t>
            </a:r>
            <a:endParaRPr lang="en-US" sz="10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1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2" b="-1"/>
          <a:stretch/>
        </p:blipFill>
        <p:spPr>
          <a:xfrm>
            <a:off x="224815" y="2277966"/>
            <a:ext cx="1253708" cy="843164"/>
          </a:xfrm>
          <a:prstGeom prst="rect">
            <a:avLst/>
          </a:prstGeom>
        </p:spPr>
      </p:pic>
      <p:cxnSp>
        <p:nvCxnSpPr>
          <p:cNvPr id="28" name="Straight Connector 27"/>
          <p:cNvCxnSpPr/>
          <p:nvPr/>
        </p:nvCxnSpPr>
        <p:spPr>
          <a:xfrm>
            <a:off x="1" y="6629738"/>
            <a:ext cx="197425" cy="676"/>
          </a:xfrm>
          <a:prstGeom prst="line">
            <a:avLst/>
          </a:prstGeom>
          <a:ln w="228600">
            <a:solidFill>
              <a:srgbClr val="0000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AC0CEB4-3DAC-4F91-9D98-C072F68EB42C}"/>
              </a:ext>
            </a:extLst>
          </p:cNvPr>
          <p:cNvSpPr/>
          <p:nvPr userDrawn="1"/>
        </p:nvSpPr>
        <p:spPr>
          <a:xfrm>
            <a:off x="1" y="1007268"/>
            <a:ext cx="1601097" cy="457200"/>
          </a:xfrm>
          <a:prstGeom prst="rect">
            <a:avLst/>
          </a:prstGeom>
          <a:solidFill>
            <a:srgbClr val="FFD54F"/>
          </a:solidFill>
          <a:ln>
            <a:solidFill>
              <a:srgbClr val="FFD5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002060"/>
                </a:solidFill>
              </a:rPr>
              <a:t>Presidency College </a:t>
            </a:r>
          </a:p>
          <a:p>
            <a:pPr algn="ctr"/>
            <a:r>
              <a:rPr lang="en-US" sz="1000" dirty="0">
                <a:solidFill>
                  <a:srgbClr val="002060"/>
                </a:solidFill>
              </a:rPr>
              <a:t>(Autonomous)</a:t>
            </a:r>
            <a:endParaRPr lang="en-US" sz="1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996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rgbClr val="000051"/>
          </a:solidFill>
          <a:latin typeface="Cambria" panose="02040503050406030204" pitchFamily="18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790092" y="1560269"/>
            <a:ext cx="7772400" cy="1162050"/>
          </a:xfrm>
        </p:spPr>
        <p:txBody>
          <a:bodyPr/>
          <a:lstStyle/>
          <a:p>
            <a:pPr algn="ctr"/>
            <a:r>
              <a:rPr lang="en-US" u="sng" dirty="0"/>
              <a:t>THEORY OF COMPUTATION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5600" y="2819400"/>
            <a:ext cx="7772400" cy="1752600"/>
          </a:xfrm>
        </p:spPr>
        <p:txBody>
          <a:bodyPr>
            <a:normAutofit/>
          </a:bodyPr>
          <a:lstStyle/>
          <a:p>
            <a:pPr algn="ctr"/>
            <a:endParaRPr lang="en-IN" dirty="0"/>
          </a:p>
          <a:p>
            <a:pPr algn="ctr"/>
            <a:r>
              <a:rPr lang="en-US" u="sng" dirty="0"/>
              <a:t>-TOPIC-</a:t>
            </a:r>
          </a:p>
          <a:p>
            <a:pPr algn="ctr"/>
            <a:r>
              <a:rPr lang="en-US" dirty="0"/>
              <a:t>MINIMIZATION OF FINITE AUTOMATA</a:t>
            </a:r>
            <a:endParaRPr lang="en-US" u="sng" dirty="0"/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0155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2225040" y="1295401"/>
            <a:ext cx="8290560" cy="4684712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Minimization of DFA means reducing the number of states from given FA.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Thus, we get the FSM(finite state machine) with redundant states after minimizing the FSM.</a:t>
            </a:r>
            <a:endParaRPr lang="en-IN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042160" y="228600"/>
            <a:ext cx="9946641" cy="838200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Minimization of DFA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1876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940560" y="228600"/>
            <a:ext cx="10048241" cy="838200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Steps:</a:t>
            </a: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DBDA0E0-C078-45F1-B452-0E3D7C25B724}"/>
              </a:ext>
            </a:extLst>
          </p:cNvPr>
          <p:cNvSpPr txBox="1">
            <a:spLocks/>
          </p:cNvSpPr>
          <p:nvPr/>
        </p:nvSpPr>
        <p:spPr>
          <a:xfrm>
            <a:off x="2336800" y="1356752"/>
            <a:ext cx="10287000" cy="484053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3429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685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0287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17145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Step1: Identify the given number of states.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Step2:Draw the upper triangular matrix for the given problem.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Step3:Draw the table filling format to mark the state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reachable to final state.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Step4:Draw the transition table for unmarked states.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Step5:Draw the table filling format to mark the respective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cells from the above transition table.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Step6:The final unmarked states.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8B76CB-3A37-423F-ABEE-772B511DF9B5}"/>
              </a:ext>
            </a:extLst>
          </p:cNvPr>
          <p:cNvSpPr/>
          <p:nvPr/>
        </p:nvSpPr>
        <p:spPr>
          <a:xfrm>
            <a:off x="2514600" y="3429000"/>
            <a:ext cx="8238393" cy="10462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Note: The states which are reachable to final state can be marked ,If its already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marked then consider the respective cell value for marking.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If the both values reachable to final state then it cant be consider for marking.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199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971040" y="228600"/>
            <a:ext cx="10017761" cy="838200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Problem:</a:t>
            </a:r>
            <a:endParaRPr lang="en-IN" dirty="0"/>
          </a:p>
        </p:txBody>
      </p:sp>
      <p:pic>
        <p:nvPicPr>
          <p:cNvPr id="6" name="Content Placeholder 3" descr="Untitled Diagram.drawio(3)">
            <a:extLst>
              <a:ext uri="{FF2B5EF4-FFF2-40B4-BE49-F238E27FC236}">
                <a16:creationId xmlns:a16="http://schemas.microsoft.com/office/drawing/2014/main" id="{C279A527-655D-47C3-8C49-4D9E9BD60497}"/>
              </a:ext>
            </a:extLst>
          </p:cNvPr>
          <p:cNvPicPr>
            <a:picLocks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2650" y="1448579"/>
            <a:ext cx="6575981" cy="49421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BF9B2F-AFD1-4997-BD82-3952F3F8DDD7}"/>
              </a:ext>
            </a:extLst>
          </p:cNvPr>
          <p:cNvSpPr txBox="1"/>
          <p:nvPr/>
        </p:nvSpPr>
        <p:spPr>
          <a:xfrm>
            <a:off x="3047218" y="3273315"/>
            <a:ext cx="2123658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dirty="0"/>
              <a:t>Initial/Start</a:t>
            </a:r>
          </a:p>
          <a:p>
            <a:r>
              <a:rPr lang="en-IN" dirty="0"/>
              <a:t>state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491DE4-D362-435E-85D3-36AE94AD43EB}"/>
              </a:ext>
            </a:extLst>
          </p:cNvPr>
          <p:cNvSpPr txBox="1"/>
          <p:nvPr/>
        </p:nvSpPr>
        <p:spPr>
          <a:xfrm>
            <a:off x="6870640" y="5795182"/>
            <a:ext cx="2123658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dirty="0"/>
              <a:t>Final state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AE6649-0DE4-4E00-9205-3BE3247D583C}"/>
              </a:ext>
            </a:extLst>
          </p:cNvPr>
          <p:cNvSpPr txBox="1"/>
          <p:nvPr/>
        </p:nvSpPr>
        <p:spPr>
          <a:xfrm>
            <a:off x="6673361" y="2646485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6550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164080" y="228600"/>
            <a:ext cx="9824721" cy="83820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Step1:Identify the given number of states.</a:t>
            </a:r>
            <a:endParaRPr lang="en-IN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BE5E230-9624-4B38-8156-16124382DDAC}"/>
              </a:ext>
            </a:extLst>
          </p:cNvPr>
          <p:cNvSpPr txBox="1">
            <a:spLocks/>
          </p:cNvSpPr>
          <p:nvPr/>
        </p:nvSpPr>
        <p:spPr>
          <a:xfrm>
            <a:off x="2631440" y="1676595"/>
            <a:ext cx="9560560" cy="40228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3429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685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0287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17145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dirty="0">
                <a:solidFill>
                  <a:schemeClr val="tx1"/>
                </a:solidFill>
              </a:rPr>
              <a:t>The given states are:</a:t>
            </a:r>
          </a:p>
          <a:p>
            <a:pPr marL="1828800" lvl="4"/>
            <a:endParaRPr lang="fr-FR" sz="2800" dirty="0">
              <a:solidFill>
                <a:schemeClr val="tx1"/>
              </a:solidFill>
            </a:endParaRPr>
          </a:p>
          <a:p>
            <a:pPr marL="1828800" lvl="4"/>
            <a:r>
              <a:rPr lang="fr-FR" sz="2800" dirty="0">
                <a:solidFill>
                  <a:schemeClr val="tx1"/>
                </a:solidFill>
              </a:rPr>
              <a:t>{</a:t>
            </a:r>
            <a:r>
              <a:rPr lang="en-US" sz="2800" dirty="0">
                <a:solidFill>
                  <a:schemeClr val="tx1"/>
                </a:solidFill>
              </a:rPr>
              <a:t>q</a:t>
            </a:r>
            <a:r>
              <a:rPr lang="en-US" sz="2400" baseline="-25000" dirty="0">
                <a:solidFill>
                  <a:schemeClr val="tx1"/>
                </a:solidFill>
              </a:rPr>
              <a:t>0</a:t>
            </a:r>
            <a:r>
              <a:rPr lang="fr-FR" sz="2800" dirty="0">
                <a:solidFill>
                  <a:schemeClr val="tx1"/>
                </a:solidFill>
              </a:rPr>
              <a:t>,</a:t>
            </a:r>
            <a:r>
              <a:rPr lang="en-US" sz="2800" dirty="0">
                <a:solidFill>
                  <a:schemeClr val="tx1"/>
                </a:solidFill>
              </a:rPr>
              <a:t> q</a:t>
            </a:r>
            <a:r>
              <a:rPr lang="en-US" sz="2400" baseline="-25000" dirty="0">
                <a:solidFill>
                  <a:schemeClr val="tx1"/>
                </a:solidFill>
              </a:rPr>
              <a:t>1</a:t>
            </a:r>
            <a:r>
              <a:rPr lang="fr-FR" sz="2800" dirty="0">
                <a:solidFill>
                  <a:schemeClr val="tx1"/>
                </a:solidFill>
              </a:rPr>
              <a:t>,</a:t>
            </a:r>
            <a:r>
              <a:rPr lang="en-US" sz="2800" dirty="0">
                <a:solidFill>
                  <a:schemeClr val="tx1"/>
                </a:solidFill>
              </a:rPr>
              <a:t> q</a:t>
            </a:r>
            <a:r>
              <a:rPr lang="en-US" sz="2400" baseline="-25000" dirty="0">
                <a:solidFill>
                  <a:schemeClr val="tx1"/>
                </a:solidFill>
              </a:rPr>
              <a:t>2</a:t>
            </a:r>
            <a:r>
              <a:rPr lang="fr-FR" sz="2800" dirty="0">
                <a:solidFill>
                  <a:schemeClr val="tx1"/>
                </a:solidFill>
              </a:rPr>
              <a:t>,</a:t>
            </a:r>
            <a:r>
              <a:rPr lang="en-US" sz="2800" dirty="0">
                <a:solidFill>
                  <a:schemeClr val="tx1"/>
                </a:solidFill>
              </a:rPr>
              <a:t> q</a:t>
            </a:r>
            <a:r>
              <a:rPr lang="en-US" sz="2400" baseline="-25000" dirty="0">
                <a:solidFill>
                  <a:schemeClr val="tx1"/>
                </a:solidFill>
              </a:rPr>
              <a:t>3</a:t>
            </a:r>
            <a:r>
              <a:rPr lang="fr-FR" sz="2800" dirty="0">
                <a:solidFill>
                  <a:schemeClr val="tx1"/>
                </a:solidFill>
              </a:rPr>
              <a:t>,</a:t>
            </a:r>
            <a:r>
              <a:rPr lang="en-US" sz="2800" dirty="0">
                <a:solidFill>
                  <a:schemeClr val="tx1"/>
                </a:solidFill>
              </a:rPr>
              <a:t> q</a:t>
            </a:r>
            <a:r>
              <a:rPr lang="en-US" sz="2400" baseline="-25000" dirty="0">
                <a:solidFill>
                  <a:schemeClr val="tx1"/>
                </a:solidFill>
              </a:rPr>
              <a:t>4</a:t>
            </a:r>
            <a:r>
              <a:rPr lang="fr-FR" sz="2800" dirty="0">
                <a:solidFill>
                  <a:schemeClr val="tx1"/>
                </a:solidFill>
              </a:rPr>
              <a:t>,</a:t>
            </a:r>
            <a:r>
              <a:rPr lang="en-US" sz="2800" dirty="0">
                <a:solidFill>
                  <a:schemeClr val="tx1"/>
                </a:solidFill>
              </a:rPr>
              <a:t> q</a:t>
            </a:r>
            <a:r>
              <a:rPr lang="en-US" sz="2400" baseline="-25000" dirty="0">
                <a:solidFill>
                  <a:schemeClr val="tx1"/>
                </a:solidFill>
              </a:rPr>
              <a:t>5</a:t>
            </a:r>
            <a:r>
              <a:rPr lang="fr-FR" sz="2800" dirty="0">
                <a:solidFill>
                  <a:schemeClr val="tx1"/>
                </a:solidFill>
              </a:rPr>
              <a:t>}</a:t>
            </a:r>
            <a:endParaRPr lang="en-IN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7325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092960" y="228600"/>
            <a:ext cx="9895841" cy="838200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Step2: Draw the upper triangular matrix for the given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problem.</a:t>
            </a:r>
            <a:endParaRPr lang="en-IN" dirty="0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6470B20A-0619-47AA-B5E3-D7024578045A}"/>
              </a:ext>
            </a:extLst>
          </p:cNvPr>
          <p:cNvSpPr/>
          <p:nvPr/>
        </p:nvSpPr>
        <p:spPr>
          <a:xfrm flipV="1">
            <a:off x="2245557" y="1904804"/>
            <a:ext cx="7798776" cy="4093186"/>
          </a:xfrm>
          <a:prstGeom prst="triangle">
            <a:avLst>
              <a:gd name="adj" fmla="val 10000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5C0848-EB9F-41E4-9806-FDE0E3E402DB}"/>
              </a:ext>
            </a:extLst>
          </p:cNvPr>
          <p:cNvSpPr txBox="1"/>
          <p:nvPr/>
        </p:nvSpPr>
        <p:spPr>
          <a:xfrm rot="16200000">
            <a:off x="4405916" y="829673"/>
            <a:ext cx="553998" cy="2704261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r>
              <a:rPr lang="en-IN" sz="2400" dirty="0"/>
              <a:t>(</a:t>
            </a:r>
            <a:r>
              <a:rPr lang="en-US" sz="2400" dirty="0"/>
              <a:t>q</a:t>
            </a:r>
            <a:r>
              <a:rPr lang="en-US" sz="2000" baseline="-25000" dirty="0"/>
              <a:t>0</a:t>
            </a:r>
            <a:r>
              <a:rPr lang="en-IN" sz="2400" dirty="0"/>
              <a:t>,</a:t>
            </a:r>
            <a:r>
              <a:rPr lang="en-US" sz="2400" dirty="0"/>
              <a:t> q</a:t>
            </a:r>
            <a:r>
              <a:rPr lang="en-US" sz="2000" baseline="-25000" dirty="0"/>
              <a:t>1</a:t>
            </a:r>
            <a:r>
              <a:rPr lang="en-IN" sz="2400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F7835A-62B0-4F63-A4CB-53A2C38B0832}"/>
              </a:ext>
            </a:extLst>
          </p:cNvPr>
          <p:cNvSpPr txBox="1"/>
          <p:nvPr/>
        </p:nvSpPr>
        <p:spPr>
          <a:xfrm rot="16200000">
            <a:off x="5697800" y="829672"/>
            <a:ext cx="553998" cy="2704261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r>
              <a:rPr lang="en-IN" sz="2400" dirty="0"/>
              <a:t>(</a:t>
            </a:r>
            <a:r>
              <a:rPr lang="en-US" sz="2400" dirty="0"/>
              <a:t>q</a:t>
            </a:r>
            <a:r>
              <a:rPr lang="en-US" sz="2000" baseline="-25000" dirty="0"/>
              <a:t>0</a:t>
            </a:r>
            <a:r>
              <a:rPr lang="en-IN" sz="2400" dirty="0"/>
              <a:t>,</a:t>
            </a:r>
            <a:r>
              <a:rPr lang="en-US" sz="2400" dirty="0"/>
              <a:t> q</a:t>
            </a:r>
            <a:r>
              <a:rPr lang="en-US" sz="2000" baseline="-25000" dirty="0"/>
              <a:t>2</a:t>
            </a:r>
            <a:r>
              <a:rPr lang="en-IN" sz="2400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0A866D-D361-4D90-8EF5-9CDAABAEC390}"/>
              </a:ext>
            </a:extLst>
          </p:cNvPr>
          <p:cNvSpPr txBox="1"/>
          <p:nvPr/>
        </p:nvSpPr>
        <p:spPr>
          <a:xfrm rot="16200000">
            <a:off x="6896031" y="829672"/>
            <a:ext cx="553998" cy="2704261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r>
              <a:rPr lang="en-IN" sz="2400" dirty="0"/>
              <a:t>(</a:t>
            </a:r>
            <a:r>
              <a:rPr lang="en-US" sz="2400" dirty="0"/>
              <a:t>q</a:t>
            </a:r>
            <a:r>
              <a:rPr lang="en-US" sz="2000" baseline="-25000" dirty="0"/>
              <a:t>0</a:t>
            </a:r>
            <a:r>
              <a:rPr lang="en-IN" sz="2400" dirty="0"/>
              <a:t>,</a:t>
            </a:r>
            <a:r>
              <a:rPr lang="en-US" sz="2400" dirty="0"/>
              <a:t> q</a:t>
            </a:r>
            <a:r>
              <a:rPr lang="en-US" sz="2000" baseline="-25000" dirty="0"/>
              <a:t>3</a:t>
            </a:r>
            <a:r>
              <a:rPr lang="en-IN" sz="2400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1B532E-D682-4BF7-B4B8-C47A459813D4}"/>
              </a:ext>
            </a:extLst>
          </p:cNvPr>
          <p:cNvSpPr txBox="1"/>
          <p:nvPr/>
        </p:nvSpPr>
        <p:spPr>
          <a:xfrm rot="16200000">
            <a:off x="8048459" y="829672"/>
            <a:ext cx="553998" cy="2704261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r>
              <a:rPr lang="en-IN" sz="2400" dirty="0"/>
              <a:t>(</a:t>
            </a:r>
            <a:r>
              <a:rPr lang="en-US" sz="2400" dirty="0"/>
              <a:t>q</a:t>
            </a:r>
            <a:r>
              <a:rPr lang="en-US" sz="2000" baseline="-25000" dirty="0"/>
              <a:t>0</a:t>
            </a:r>
            <a:r>
              <a:rPr lang="en-IN" sz="2400" dirty="0"/>
              <a:t>,</a:t>
            </a:r>
            <a:r>
              <a:rPr lang="en-US" sz="2400" dirty="0"/>
              <a:t> q</a:t>
            </a:r>
            <a:r>
              <a:rPr lang="en-US" sz="2000" baseline="-25000" dirty="0"/>
              <a:t>4</a:t>
            </a:r>
            <a:r>
              <a:rPr lang="en-IN" sz="2400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62C1DB-7D7F-49DB-825B-F8844762ADA7}"/>
              </a:ext>
            </a:extLst>
          </p:cNvPr>
          <p:cNvSpPr txBox="1"/>
          <p:nvPr/>
        </p:nvSpPr>
        <p:spPr>
          <a:xfrm rot="16200000">
            <a:off x="9280632" y="829672"/>
            <a:ext cx="553998" cy="2704261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r>
              <a:rPr lang="en-IN" sz="2400" dirty="0"/>
              <a:t>(</a:t>
            </a:r>
            <a:r>
              <a:rPr lang="en-US" sz="2400" dirty="0"/>
              <a:t>q</a:t>
            </a:r>
            <a:r>
              <a:rPr lang="en-US" sz="2000" baseline="-25000" dirty="0"/>
              <a:t>0</a:t>
            </a:r>
            <a:r>
              <a:rPr lang="en-IN" sz="2400" dirty="0"/>
              <a:t>,</a:t>
            </a:r>
            <a:r>
              <a:rPr lang="en-US" sz="2400" dirty="0"/>
              <a:t> q</a:t>
            </a:r>
            <a:r>
              <a:rPr lang="en-US" sz="2000" baseline="-25000" dirty="0"/>
              <a:t>5</a:t>
            </a:r>
            <a:r>
              <a:rPr lang="en-IN" sz="2400" dirty="0"/>
              <a:t>) (✔)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1D9838-032B-4F84-89A5-28412C8A3AE2}"/>
              </a:ext>
            </a:extLst>
          </p:cNvPr>
          <p:cNvSpPr txBox="1"/>
          <p:nvPr/>
        </p:nvSpPr>
        <p:spPr>
          <a:xfrm rot="16200000">
            <a:off x="5697802" y="1539753"/>
            <a:ext cx="553998" cy="2704261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r>
              <a:rPr lang="en-US" sz="2400" dirty="0"/>
              <a:t>q</a:t>
            </a:r>
            <a:r>
              <a:rPr lang="en-US" sz="2000" baseline="-25000" dirty="0"/>
              <a:t>1</a:t>
            </a:r>
            <a:r>
              <a:rPr lang="en-IN" sz="2400" dirty="0"/>
              <a:t>,</a:t>
            </a:r>
            <a:r>
              <a:rPr lang="en-US" sz="2400" dirty="0"/>
              <a:t> q</a:t>
            </a:r>
            <a:r>
              <a:rPr lang="en-US" sz="2000" baseline="-25000" dirty="0"/>
              <a:t>2</a:t>
            </a:r>
            <a:r>
              <a:rPr lang="en-IN" sz="2400" dirty="0"/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440C30-118C-4524-BBFC-071E8136F956}"/>
              </a:ext>
            </a:extLst>
          </p:cNvPr>
          <p:cNvSpPr txBox="1"/>
          <p:nvPr/>
        </p:nvSpPr>
        <p:spPr>
          <a:xfrm rot="16200000">
            <a:off x="6881573" y="1539753"/>
            <a:ext cx="553998" cy="2704261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r>
              <a:rPr lang="en-IN" sz="2400" dirty="0"/>
              <a:t>(</a:t>
            </a:r>
            <a:r>
              <a:rPr lang="en-US" sz="2400" dirty="0"/>
              <a:t>q</a:t>
            </a:r>
            <a:r>
              <a:rPr lang="en-US" sz="2000" baseline="-25000" dirty="0"/>
              <a:t>1</a:t>
            </a:r>
            <a:r>
              <a:rPr lang="en-IN" sz="2400" dirty="0"/>
              <a:t>,</a:t>
            </a:r>
            <a:r>
              <a:rPr lang="en-US" sz="2400" dirty="0"/>
              <a:t> q</a:t>
            </a:r>
            <a:r>
              <a:rPr lang="en-US" sz="2000" baseline="-25000" dirty="0"/>
              <a:t>3</a:t>
            </a:r>
            <a:r>
              <a:rPr lang="en-IN" sz="2400" dirty="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D24AAE-5625-4E14-92A2-25420D087BBC}"/>
              </a:ext>
            </a:extLst>
          </p:cNvPr>
          <p:cNvSpPr txBox="1"/>
          <p:nvPr/>
        </p:nvSpPr>
        <p:spPr>
          <a:xfrm rot="16200000">
            <a:off x="8074916" y="1539753"/>
            <a:ext cx="553998" cy="2704261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r>
              <a:rPr lang="en-IN" sz="2400" dirty="0"/>
              <a:t>(</a:t>
            </a:r>
            <a:r>
              <a:rPr lang="en-US" sz="2400" dirty="0"/>
              <a:t>q</a:t>
            </a:r>
            <a:r>
              <a:rPr lang="en-US" sz="2000" baseline="-25000" dirty="0"/>
              <a:t>1</a:t>
            </a:r>
            <a:r>
              <a:rPr lang="en-IN" sz="2400" dirty="0"/>
              <a:t>,</a:t>
            </a:r>
            <a:r>
              <a:rPr lang="en-US" sz="2400" dirty="0"/>
              <a:t> q</a:t>
            </a:r>
            <a:r>
              <a:rPr lang="en-US" sz="2000" baseline="-25000" dirty="0"/>
              <a:t>4</a:t>
            </a:r>
            <a:r>
              <a:rPr lang="en-IN" sz="2400" dirty="0"/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8B1D4F-977C-42B9-B10B-65FA3A0240C9}"/>
              </a:ext>
            </a:extLst>
          </p:cNvPr>
          <p:cNvSpPr txBox="1"/>
          <p:nvPr/>
        </p:nvSpPr>
        <p:spPr>
          <a:xfrm rot="16200000">
            <a:off x="9293820" y="1515390"/>
            <a:ext cx="553998" cy="2704261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r>
              <a:rPr lang="en-IN" sz="2400" dirty="0"/>
              <a:t>(</a:t>
            </a:r>
            <a:r>
              <a:rPr lang="en-US" sz="2400" dirty="0"/>
              <a:t>q</a:t>
            </a:r>
            <a:r>
              <a:rPr lang="en-US" sz="2000" baseline="-25000" dirty="0"/>
              <a:t>1</a:t>
            </a:r>
            <a:r>
              <a:rPr lang="en-IN" sz="2400" dirty="0"/>
              <a:t>,</a:t>
            </a:r>
            <a:r>
              <a:rPr lang="en-US" sz="2400" dirty="0"/>
              <a:t> q</a:t>
            </a:r>
            <a:r>
              <a:rPr lang="en-US" sz="2000" baseline="-25000" dirty="0"/>
              <a:t>5</a:t>
            </a:r>
            <a:r>
              <a:rPr lang="en-IN" sz="2400" dirty="0"/>
              <a:t>) (✔)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635F77-8F2F-48E0-B34E-FD73ED75228B}"/>
              </a:ext>
            </a:extLst>
          </p:cNvPr>
          <p:cNvSpPr txBox="1"/>
          <p:nvPr/>
        </p:nvSpPr>
        <p:spPr>
          <a:xfrm rot="16200000">
            <a:off x="6981479" y="2199094"/>
            <a:ext cx="553998" cy="2704261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r>
              <a:rPr lang="en-IN" sz="2400" dirty="0"/>
              <a:t>(</a:t>
            </a:r>
            <a:r>
              <a:rPr lang="en-US" sz="2400" dirty="0"/>
              <a:t>q</a:t>
            </a:r>
            <a:r>
              <a:rPr lang="en-US" sz="2000" baseline="-25000" dirty="0"/>
              <a:t>2</a:t>
            </a:r>
            <a:r>
              <a:rPr lang="en-IN" sz="2400" dirty="0"/>
              <a:t>,</a:t>
            </a:r>
            <a:r>
              <a:rPr lang="en-US" sz="2400" dirty="0"/>
              <a:t> q</a:t>
            </a:r>
            <a:r>
              <a:rPr lang="en-US" sz="2000" baseline="-25000" dirty="0"/>
              <a:t>3</a:t>
            </a:r>
            <a:r>
              <a:rPr lang="en-IN" sz="2400" dirty="0"/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A3818C-854C-4C38-A160-53E6BBC96A8B}"/>
              </a:ext>
            </a:extLst>
          </p:cNvPr>
          <p:cNvSpPr txBox="1"/>
          <p:nvPr/>
        </p:nvSpPr>
        <p:spPr>
          <a:xfrm rot="16200000">
            <a:off x="8116554" y="2214582"/>
            <a:ext cx="553998" cy="2704261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r>
              <a:rPr lang="en-IN" sz="2400" dirty="0"/>
              <a:t>(</a:t>
            </a:r>
            <a:r>
              <a:rPr lang="en-US" sz="2400" dirty="0"/>
              <a:t>q</a:t>
            </a:r>
            <a:r>
              <a:rPr lang="en-US" sz="2000" baseline="-25000" dirty="0"/>
              <a:t>2</a:t>
            </a:r>
            <a:r>
              <a:rPr lang="en-IN" sz="2400" dirty="0"/>
              <a:t>,</a:t>
            </a:r>
            <a:r>
              <a:rPr lang="en-US" sz="2400" dirty="0"/>
              <a:t> q</a:t>
            </a:r>
            <a:r>
              <a:rPr lang="en-US" sz="2000" baseline="-25000" dirty="0"/>
              <a:t>4</a:t>
            </a:r>
            <a:r>
              <a:rPr lang="en-IN" sz="2400" dirty="0"/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344E80-DBEB-4020-8756-3655AEA934EA}"/>
              </a:ext>
            </a:extLst>
          </p:cNvPr>
          <p:cNvSpPr txBox="1"/>
          <p:nvPr/>
        </p:nvSpPr>
        <p:spPr>
          <a:xfrm rot="16200000">
            <a:off x="9293822" y="2252336"/>
            <a:ext cx="553998" cy="2704261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r>
              <a:rPr lang="en-IN" sz="2400" dirty="0"/>
              <a:t>(</a:t>
            </a:r>
            <a:r>
              <a:rPr lang="en-US" sz="2400" dirty="0"/>
              <a:t>q</a:t>
            </a:r>
            <a:r>
              <a:rPr lang="en-US" sz="2000" baseline="-25000" dirty="0"/>
              <a:t>2</a:t>
            </a:r>
            <a:r>
              <a:rPr lang="en-IN" sz="2400" dirty="0"/>
              <a:t>,</a:t>
            </a:r>
            <a:r>
              <a:rPr lang="en-US" sz="2400" dirty="0"/>
              <a:t> q</a:t>
            </a:r>
            <a:r>
              <a:rPr lang="en-US" sz="2000" baseline="-25000" dirty="0"/>
              <a:t>5</a:t>
            </a:r>
            <a:r>
              <a:rPr lang="en-IN" sz="2400" dirty="0"/>
              <a:t>) (✔)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AEA325-7F52-484F-A210-DA5C1AB92A70}"/>
              </a:ext>
            </a:extLst>
          </p:cNvPr>
          <p:cNvSpPr txBox="1"/>
          <p:nvPr/>
        </p:nvSpPr>
        <p:spPr>
          <a:xfrm rot="16200000">
            <a:off x="8124767" y="2929943"/>
            <a:ext cx="553998" cy="2704261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r>
              <a:rPr lang="en-IN" sz="2400" dirty="0"/>
              <a:t>(</a:t>
            </a:r>
            <a:r>
              <a:rPr lang="en-US" sz="2400" dirty="0"/>
              <a:t>q</a:t>
            </a:r>
            <a:r>
              <a:rPr lang="en-US" sz="2000" baseline="-25000" dirty="0"/>
              <a:t>3</a:t>
            </a:r>
            <a:r>
              <a:rPr lang="en-IN" sz="2400" dirty="0"/>
              <a:t>,</a:t>
            </a:r>
            <a:r>
              <a:rPr lang="en-US" sz="2400" dirty="0"/>
              <a:t> q</a:t>
            </a:r>
            <a:r>
              <a:rPr lang="en-US" sz="2000" baseline="-25000" dirty="0"/>
              <a:t>4</a:t>
            </a:r>
            <a:r>
              <a:rPr lang="en-IN" sz="2400" dirty="0"/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5533FE-66E5-4A12-8661-2B3BA4BB8788}"/>
              </a:ext>
            </a:extLst>
          </p:cNvPr>
          <p:cNvSpPr txBox="1"/>
          <p:nvPr/>
        </p:nvSpPr>
        <p:spPr>
          <a:xfrm rot="16200000">
            <a:off x="9293820" y="2929944"/>
            <a:ext cx="553998" cy="2704261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r>
              <a:rPr lang="en-IN" sz="2400" dirty="0"/>
              <a:t>(</a:t>
            </a:r>
            <a:r>
              <a:rPr lang="en-US" sz="2400" dirty="0"/>
              <a:t>q</a:t>
            </a:r>
            <a:r>
              <a:rPr lang="en-US" sz="2000" baseline="-25000" dirty="0"/>
              <a:t>3</a:t>
            </a:r>
            <a:r>
              <a:rPr lang="en-IN" sz="2400" dirty="0"/>
              <a:t>,</a:t>
            </a:r>
            <a:r>
              <a:rPr lang="en-US" sz="2400" dirty="0"/>
              <a:t> q</a:t>
            </a:r>
            <a:r>
              <a:rPr lang="en-US" sz="2000" baseline="-25000" dirty="0"/>
              <a:t>5</a:t>
            </a:r>
            <a:r>
              <a:rPr lang="en-IN" sz="2400" dirty="0"/>
              <a:t>) (✔)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01C63E-7C12-4E17-9E23-BB77B561C64D}"/>
              </a:ext>
            </a:extLst>
          </p:cNvPr>
          <p:cNvSpPr txBox="1"/>
          <p:nvPr/>
        </p:nvSpPr>
        <p:spPr>
          <a:xfrm rot="16200000">
            <a:off x="9400591" y="3542382"/>
            <a:ext cx="553998" cy="2704261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r>
              <a:rPr lang="en-IN" sz="2400" dirty="0"/>
              <a:t>(</a:t>
            </a:r>
            <a:r>
              <a:rPr lang="en-US" sz="2400" dirty="0"/>
              <a:t>q</a:t>
            </a:r>
            <a:r>
              <a:rPr lang="en-US" sz="2000" baseline="-25000" dirty="0"/>
              <a:t>4</a:t>
            </a:r>
            <a:r>
              <a:rPr lang="en-IN" sz="2400" dirty="0"/>
              <a:t>,</a:t>
            </a:r>
            <a:r>
              <a:rPr lang="en-US" sz="2400" dirty="0"/>
              <a:t> q</a:t>
            </a:r>
            <a:r>
              <a:rPr lang="en-US" sz="2000" baseline="-25000" dirty="0"/>
              <a:t>5</a:t>
            </a:r>
            <a:r>
              <a:rPr lang="en-IN" sz="2400" dirty="0"/>
              <a:t>) (✔)</a:t>
            </a:r>
          </a:p>
        </p:txBody>
      </p:sp>
    </p:spTree>
    <p:extLst>
      <p:ext uri="{BB962C8B-B14F-4D97-AF65-F5344CB8AC3E}">
        <p14:creationId xmlns:p14="http://schemas.microsoft.com/office/powerpoint/2010/main" val="1521698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960880" y="228600"/>
            <a:ext cx="10027921" cy="838200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Step3:Draw the table filling format to mark the state reachable to final state.</a:t>
            </a:r>
            <a:endParaRPr lang="en-IN" dirty="0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C4011C40-D16E-4A4A-95EC-050F719836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271380"/>
              </p:ext>
            </p:extLst>
          </p:nvPr>
        </p:nvGraphicFramePr>
        <p:xfrm>
          <a:off x="2161930" y="1877646"/>
          <a:ext cx="9513282" cy="408841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85547">
                  <a:extLst>
                    <a:ext uri="{9D8B030D-6E8A-4147-A177-3AD203B41FA5}">
                      <a16:colId xmlns:a16="http://schemas.microsoft.com/office/drawing/2014/main" val="2035804693"/>
                    </a:ext>
                  </a:extLst>
                </a:gridCol>
                <a:gridCol w="1585547">
                  <a:extLst>
                    <a:ext uri="{9D8B030D-6E8A-4147-A177-3AD203B41FA5}">
                      <a16:colId xmlns:a16="http://schemas.microsoft.com/office/drawing/2014/main" val="958188008"/>
                    </a:ext>
                  </a:extLst>
                </a:gridCol>
                <a:gridCol w="1585547">
                  <a:extLst>
                    <a:ext uri="{9D8B030D-6E8A-4147-A177-3AD203B41FA5}">
                      <a16:colId xmlns:a16="http://schemas.microsoft.com/office/drawing/2014/main" val="2349337197"/>
                    </a:ext>
                  </a:extLst>
                </a:gridCol>
                <a:gridCol w="1585547">
                  <a:extLst>
                    <a:ext uri="{9D8B030D-6E8A-4147-A177-3AD203B41FA5}">
                      <a16:colId xmlns:a16="http://schemas.microsoft.com/office/drawing/2014/main" val="990793491"/>
                    </a:ext>
                  </a:extLst>
                </a:gridCol>
                <a:gridCol w="1585547">
                  <a:extLst>
                    <a:ext uri="{9D8B030D-6E8A-4147-A177-3AD203B41FA5}">
                      <a16:colId xmlns:a16="http://schemas.microsoft.com/office/drawing/2014/main" val="2513591472"/>
                    </a:ext>
                  </a:extLst>
                </a:gridCol>
                <a:gridCol w="1585547">
                  <a:extLst>
                    <a:ext uri="{9D8B030D-6E8A-4147-A177-3AD203B41FA5}">
                      <a16:colId xmlns:a16="http://schemas.microsoft.com/office/drawing/2014/main" val="2679616636"/>
                    </a:ext>
                  </a:extLst>
                </a:gridCol>
              </a:tblGrid>
              <a:tr h="68140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1549242"/>
                  </a:ext>
                </a:extLst>
              </a:tr>
              <a:tr h="6814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8769772"/>
                  </a:ext>
                </a:extLst>
              </a:tr>
              <a:tr h="6814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3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066333"/>
                  </a:ext>
                </a:extLst>
              </a:tr>
              <a:tr h="6814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7951863"/>
                  </a:ext>
                </a:extLst>
              </a:tr>
              <a:tr h="6814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5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62152110"/>
                  </a:ext>
                </a:extLst>
              </a:tr>
              <a:tr h="68140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0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1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2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3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4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7602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3987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174240" y="228600"/>
            <a:ext cx="9814561" cy="83820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Step4: Draw the transition table for unmarked states.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168FDA1-8F05-402B-A90E-3641C6F7BB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62988109"/>
              </p:ext>
            </p:extLst>
          </p:nvPr>
        </p:nvGraphicFramePr>
        <p:xfrm>
          <a:off x="2590800" y="1351280"/>
          <a:ext cx="7831992" cy="47308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0664">
                  <a:extLst>
                    <a:ext uri="{9D8B030D-6E8A-4147-A177-3AD203B41FA5}">
                      <a16:colId xmlns:a16="http://schemas.microsoft.com/office/drawing/2014/main" val="720062583"/>
                    </a:ext>
                  </a:extLst>
                </a:gridCol>
                <a:gridCol w="2610664">
                  <a:extLst>
                    <a:ext uri="{9D8B030D-6E8A-4147-A177-3AD203B41FA5}">
                      <a16:colId xmlns:a16="http://schemas.microsoft.com/office/drawing/2014/main" val="2634261187"/>
                    </a:ext>
                  </a:extLst>
                </a:gridCol>
                <a:gridCol w="2610664">
                  <a:extLst>
                    <a:ext uri="{9D8B030D-6E8A-4147-A177-3AD203B41FA5}">
                      <a16:colId xmlns:a16="http://schemas.microsoft.com/office/drawing/2014/main" val="1324847297"/>
                    </a:ext>
                  </a:extLst>
                </a:gridCol>
              </a:tblGrid>
              <a:tr h="4300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dirty="0">
                          <a:effectLst/>
                        </a:rPr>
                        <a:t>δ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068321"/>
                  </a:ext>
                </a:extLst>
              </a:tr>
              <a:tr h="4300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(</a:t>
                      </a:r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0</a:t>
                      </a:r>
                      <a:r>
                        <a:rPr lang="en-IN" sz="1800" dirty="0"/>
                        <a:t>,</a:t>
                      </a:r>
                      <a:r>
                        <a:rPr lang="en-US" sz="1800" dirty="0"/>
                        <a:t> q</a:t>
                      </a:r>
                      <a:r>
                        <a:rPr lang="en-US" sz="1600" baseline="-25000" dirty="0"/>
                        <a:t>1</a:t>
                      </a:r>
                      <a:r>
                        <a:rPr lang="en-IN" sz="18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(</a:t>
                      </a:r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1</a:t>
                      </a:r>
                      <a:r>
                        <a:rPr lang="en-IN" sz="1800" dirty="0"/>
                        <a:t>,</a:t>
                      </a:r>
                      <a:r>
                        <a:rPr lang="en-US" sz="1800" dirty="0"/>
                        <a:t> q</a:t>
                      </a:r>
                      <a:r>
                        <a:rPr lang="en-US" sz="1600" baseline="-25000" dirty="0"/>
                        <a:t>3</a:t>
                      </a:r>
                      <a:r>
                        <a:rPr lang="en-IN" sz="18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(</a:t>
                      </a:r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1</a:t>
                      </a:r>
                      <a:r>
                        <a:rPr lang="en-IN" sz="1800" dirty="0"/>
                        <a:t>,</a:t>
                      </a:r>
                      <a:r>
                        <a:rPr lang="en-US" sz="1800" dirty="0"/>
                        <a:t> q</a:t>
                      </a:r>
                      <a:r>
                        <a:rPr lang="en-US" sz="1600" baseline="-25000" dirty="0"/>
                        <a:t>2</a:t>
                      </a:r>
                      <a:r>
                        <a:rPr lang="en-IN" sz="18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671185"/>
                  </a:ext>
                </a:extLst>
              </a:tr>
              <a:tr h="4300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(</a:t>
                      </a:r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0</a:t>
                      </a:r>
                      <a:r>
                        <a:rPr lang="en-IN" sz="1800" dirty="0"/>
                        <a:t>,</a:t>
                      </a:r>
                      <a:r>
                        <a:rPr lang="en-US" sz="1800" dirty="0"/>
                        <a:t> q</a:t>
                      </a:r>
                      <a:r>
                        <a:rPr lang="en-US" sz="1600" baseline="-25000" dirty="0"/>
                        <a:t>2</a:t>
                      </a:r>
                      <a:r>
                        <a:rPr lang="en-IN" sz="18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(</a:t>
                      </a:r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1</a:t>
                      </a:r>
                      <a:r>
                        <a:rPr lang="en-IN" sz="1800" dirty="0"/>
                        <a:t>,</a:t>
                      </a:r>
                      <a:r>
                        <a:rPr lang="en-US" sz="1800" dirty="0"/>
                        <a:t> q</a:t>
                      </a:r>
                      <a:r>
                        <a:rPr lang="en-US" sz="1600" baseline="-25000" dirty="0"/>
                        <a:t>3</a:t>
                      </a:r>
                      <a:r>
                        <a:rPr lang="en-IN" sz="18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(q2,q0)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120405"/>
                  </a:ext>
                </a:extLst>
              </a:tr>
              <a:tr h="4300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(</a:t>
                      </a:r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0</a:t>
                      </a:r>
                      <a:r>
                        <a:rPr lang="en-IN" sz="1800" dirty="0"/>
                        <a:t>,</a:t>
                      </a:r>
                      <a:r>
                        <a:rPr lang="en-US" sz="1800" dirty="0"/>
                        <a:t> q</a:t>
                      </a:r>
                      <a:r>
                        <a:rPr lang="en-US" sz="1600" baseline="-25000" dirty="0"/>
                        <a:t>3</a:t>
                      </a:r>
                      <a:r>
                        <a:rPr lang="en-IN" sz="18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(</a:t>
                      </a:r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1</a:t>
                      </a:r>
                      <a:r>
                        <a:rPr lang="en-IN" sz="1800" dirty="0"/>
                        <a:t>,</a:t>
                      </a:r>
                      <a:r>
                        <a:rPr lang="en-US" sz="1800" dirty="0"/>
                        <a:t> q</a:t>
                      </a:r>
                      <a:r>
                        <a:rPr lang="en-US" sz="1600" baseline="-25000" dirty="0"/>
                        <a:t>2</a:t>
                      </a:r>
                      <a:r>
                        <a:rPr lang="en-IN" sz="18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(</a:t>
                      </a:r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2</a:t>
                      </a:r>
                      <a:r>
                        <a:rPr lang="en-IN" sz="1800" dirty="0"/>
                        <a:t>,</a:t>
                      </a:r>
                      <a:r>
                        <a:rPr lang="en-US" sz="1800" dirty="0"/>
                        <a:t> q</a:t>
                      </a:r>
                      <a:r>
                        <a:rPr lang="en-US" sz="1600" baseline="-25000" dirty="0"/>
                        <a:t>2</a:t>
                      </a:r>
                      <a:r>
                        <a:rPr lang="en-IN" sz="18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5391112"/>
                  </a:ext>
                </a:extLst>
              </a:tr>
              <a:tr h="4300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(</a:t>
                      </a:r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0</a:t>
                      </a:r>
                      <a:r>
                        <a:rPr lang="en-IN" sz="1800" dirty="0"/>
                        <a:t>,</a:t>
                      </a:r>
                      <a:r>
                        <a:rPr lang="en-US" sz="1800" dirty="0"/>
                        <a:t> q</a:t>
                      </a:r>
                      <a:r>
                        <a:rPr lang="en-US" sz="1600" baseline="-25000" dirty="0"/>
                        <a:t>4</a:t>
                      </a:r>
                      <a:r>
                        <a:rPr lang="en-IN" sz="18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(</a:t>
                      </a:r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1</a:t>
                      </a:r>
                      <a:r>
                        <a:rPr lang="en-IN" sz="1800" dirty="0"/>
                        <a:t>,</a:t>
                      </a:r>
                      <a:r>
                        <a:rPr lang="en-US" sz="1800" dirty="0"/>
                        <a:t> q</a:t>
                      </a:r>
                      <a:r>
                        <a:rPr lang="en-US" sz="1600" baseline="-25000" dirty="0"/>
                        <a:t>5</a:t>
                      </a:r>
                      <a:r>
                        <a:rPr lang="en-IN" sz="1800" dirty="0"/>
                        <a:t>) (✔)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(</a:t>
                      </a:r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2</a:t>
                      </a:r>
                      <a:r>
                        <a:rPr lang="en-IN" sz="1800" dirty="0"/>
                        <a:t>,</a:t>
                      </a:r>
                      <a:r>
                        <a:rPr lang="en-US" sz="1800" dirty="0"/>
                        <a:t> q</a:t>
                      </a:r>
                      <a:r>
                        <a:rPr lang="en-US" sz="1600" baseline="-25000" dirty="0"/>
                        <a:t>2</a:t>
                      </a:r>
                      <a:r>
                        <a:rPr lang="en-IN" sz="18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492913"/>
                  </a:ext>
                </a:extLst>
              </a:tr>
              <a:tr h="4300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(</a:t>
                      </a:r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1</a:t>
                      </a:r>
                      <a:r>
                        <a:rPr lang="en-IN" sz="1800" dirty="0"/>
                        <a:t>,</a:t>
                      </a:r>
                      <a:r>
                        <a:rPr lang="en-US" sz="1800" dirty="0"/>
                        <a:t> q</a:t>
                      </a:r>
                      <a:r>
                        <a:rPr lang="en-US" sz="1600" baseline="-25000" dirty="0"/>
                        <a:t>2</a:t>
                      </a:r>
                      <a:r>
                        <a:rPr lang="en-IN" sz="18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(</a:t>
                      </a:r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2</a:t>
                      </a:r>
                      <a:r>
                        <a:rPr lang="en-IN" sz="1800" dirty="0"/>
                        <a:t>,</a:t>
                      </a:r>
                      <a:r>
                        <a:rPr lang="en-US" sz="1800" dirty="0"/>
                        <a:t> q</a:t>
                      </a:r>
                      <a:r>
                        <a:rPr lang="en-US" sz="1600" baseline="-25000" dirty="0"/>
                        <a:t>3</a:t>
                      </a:r>
                      <a:r>
                        <a:rPr lang="en-IN" sz="18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(</a:t>
                      </a:r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2</a:t>
                      </a:r>
                      <a:r>
                        <a:rPr lang="en-IN" sz="1800" dirty="0"/>
                        <a:t>,</a:t>
                      </a:r>
                      <a:r>
                        <a:rPr lang="en-US" sz="1800" dirty="0"/>
                        <a:t> q</a:t>
                      </a:r>
                      <a:r>
                        <a:rPr lang="en-US" sz="1600" baseline="-25000" dirty="0"/>
                        <a:t>0</a:t>
                      </a:r>
                      <a:r>
                        <a:rPr lang="en-IN" sz="18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631435"/>
                  </a:ext>
                </a:extLst>
              </a:tr>
              <a:tr h="4300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(</a:t>
                      </a:r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1</a:t>
                      </a:r>
                      <a:r>
                        <a:rPr lang="en-IN" sz="1800" dirty="0"/>
                        <a:t>,</a:t>
                      </a:r>
                      <a:r>
                        <a:rPr lang="en-US" sz="1800" dirty="0"/>
                        <a:t> q</a:t>
                      </a:r>
                      <a:r>
                        <a:rPr lang="en-US" sz="1600" baseline="-25000" dirty="0"/>
                        <a:t>3</a:t>
                      </a:r>
                      <a:r>
                        <a:rPr lang="en-IN" sz="18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(</a:t>
                      </a:r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3</a:t>
                      </a:r>
                      <a:r>
                        <a:rPr lang="en-IN" sz="1800" dirty="0"/>
                        <a:t>,</a:t>
                      </a:r>
                      <a:r>
                        <a:rPr lang="en-US" sz="1800" dirty="0"/>
                        <a:t> q</a:t>
                      </a:r>
                      <a:r>
                        <a:rPr lang="en-US" sz="1600" baseline="-25000" dirty="0"/>
                        <a:t>4</a:t>
                      </a:r>
                      <a:r>
                        <a:rPr lang="en-IN" sz="18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(</a:t>
                      </a:r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2</a:t>
                      </a:r>
                      <a:r>
                        <a:rPr lang="en-IN" sz="1800" dirty="0"/>
                        <a:t>,</a:t>
                      </a:r>
                      <a:r>
                        <a:rPr lang="en-US" sz="1800" dirty="0"/>
                        <a:t> q</a:t>
                      </a:r>
                      <a:r>
                        <a:rPr lang="en-US" sz="1600" baseline="-25000" dirty="0"/>
                        <a:t>2</a:t>
                      </a:r>
                      <a:r>
                        <a:rPr lang="en-IN" sz="18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1807210"/>
                  </a:ext>
                </a:extLst>
              </a:tr>
              <a:tr h="4300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(</a:t>
                      </a:r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1</a:t>
                      </a:r>
                      <a:r>
                        <a:rPr lang="en-IN" sz="1800" dirty="0"/>
                        <a:t>,</a:t>
                      </a:r>
                      <a:r>
                        <a:rPr lang="en-US" sz="1800" dirty="0"/>
                        <a:t> q</a:t>
                      </a:r>
                      <a:r>
                        <a:rPr lang="en-US" sz="1600" baseline="-25000" dirty="0"/>
                        <a:t>4</a:t>
                      </a:r>
                      <a:r>
                        <a:rPr lang="en-IN" sz="18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(</a:t>
                      </a:r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3</a:t>
                      </a:r>
                      <a:r>
                        <a:rPr lang="en-IN" sz="1800" dirty="0"/>
                        <a:t>,</a:t>
                      </a:r>
                      <a:r>
                        <a:rPr lang="en-US" sz="1800" dirty="0"/>
                        <a:t> q</a:t>
                      </a:r>
                      <a:r>
                        <a:rPr lang="en-US" sz="1600" baseline="-25000" dirty="0"/>
                        <a:t>5</a:t>
                      </a:r>
                      <a:r>
                        <a:rPr lang="en-IN" sz="1800" dirty="0"/>
                        <a:t>) (✔)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(</a:t>
                      </a:r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2</a:t>
                      </a:r>
                      <a:r>
                        <a:rPr lang="en-IN" sz="1800" dirty="0"/>
                        <a:t>,</a:t>
                      </a:r>
                      <a:r>
                        <a:rPr lang="en-US" sz="1800" dirty="0"/>
                        <a:t> q</a:t>
                      </a:r>
                      <a:r>
                        <a:rPr lang="en-US" sz="1600" baseline="-25000" dirty="0"/>
                        <a:t>2</a:t>
                      </a:r>
                      <a:r>
                        <a:rPr lang="en-IN" sz="18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76701"/>
                  </a:ext>
                </a:extLst>
              </a:tr>
              <a:tr h="4300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(</a:t>
                      </a:r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2</a:t>
                      </a:r>
                      <a:r>
                        <a:rPr lang="en-IN" sz="1800" dirty="0"/>
                        <a:t>,</a:t>
                      </a:r>
                      <a:r>
                        <a:rPr lang="en-US" sz="1800" dirty="0"/>
                        <a:t> q</a:t>
                      </a:r>
                      <a:r>
                        <a:rPr lang="en-US" sz="1600" baseline="-25000" dirty="0"/>
                        <a:t>3</a:t>
                      </a:r>
                      <a:r>
                        <a:rPr lang="en-IN" sz="18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(</a:t>
                      </a:r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3</a:t>
                      </a:r>
                      <a:r>
                        <a:rPr lang="en-IN" sz="1800" dirty="0"/>
                        <a:t>,</a:t>
                      </a:r>
                      <a:r>
                        <a:rPr lang="en-US" sz="1800" dirty="0"/>
                        <a:t> q</a:t>
                      </a:r>
                      <a:r>
                        <a:rPr lang="en-US" sz="1600" baseline="-25000" dirty="0"/>
                        <a:t>4</a:t>
                      </a:r>
                      <a:r>
                        <a:rPr lang="en-IN" sz="18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(</a:t>
                      </a:r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0</a:t>
                      </a:r>
                      <a:r>
                        <a:rPr lang="en-IN" sz="1800" dirty="0"/>
                        <a:t>,</a:t>
                      </a:r>
                      <a:r>
                        <a:rPr lang="en-US" sz="1800" dirty="0"/>
                        <a:t> q</a:t>
                      </a:r>
                      <a:r>
                        <a:rPr lang="en-US" sz="1600" baseline="-25000" dirty="0"/>
                        <a:t>2</a:t>
                      </a:r>
                      <a:r>
                        <a:rPr lang="en-IN" sz="18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2353261"/>
                  </a:ext>
                </a:extLst>
              </a:tr>
              <a:tr h="4300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(</a:t>
                      </a:r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2</a:t>
                      </a:r>
                      <a:r>
                        <a:rPr lang="en-IN" sz="1800" dirty="0"/>
                        <a:t>,</a:t>
                      </a:r>
                      <a:r>
                        <a:rPr lang="en-US" sz="1800" dirty="0"/>
                        <a:t> q</a:t>
                      </a:r>
                      <a:r>
                        <a:rPr lang="en-US" sz="1600" baseline="-25000" dirty="0"/>
                        <a:t>4</a:t>
                      </a:r>
                      <a:r>
                        <a:rPr lang="en-IN" sz="18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(</a:t>
                      </a:r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3</a:t>
                      </a:r>
                      <a:r>
                        <a:rPr lang="en-IN" sz="1800" dirty="0"/>
                        <a:t>,</a:t>
                      </a:r>
                      <a:r>
                        <a:rPr lang="en-US" sz="1800" dirty="0"/>
                        <a:t> q</a:t>
                      </a:r>
                      <a:r>
                        <a:rPr lang="en-US" sz="1600" baseline="-25000" dirty="0"/>
                        <a:t>5</a:t>
                      </a:r>
                      <a:r>
                        <a:rPr lang="en-IN" sz="1800" dirty="0"/>
                        <a:t>)(✔)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(</a:t>
                      </a:r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0</a:t>
                      </a:r>
                      <a:r>
                        <a:rPr lang="en-IN" sz="1800" dirty="0"/>
                        <a:t>,</a:t>
                      </a:r>
                      <a:r>
                        <a:rPr lang="en-US" sz="1800" dirty="0"/>
                        <a:t> q</a:t>
                      </a:r>
                      <a:r>
                        <a:rPr lang="en-US" sz="1600" baseline="-25000" dirty="0"/>
                        <a:t>2</a:t>
                      </a:r>
                      <a:r>
                        <a:rPr lang="en-IN" sz="18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6118971"/>
                  </a:ext>
                </a:extLst>
              </a:tr>
              <a:tr h="4300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(</a:t>
                      </a:r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3</a:t>
                      </a:r>
                      <a:r>
                        <a:rPr lang="en-IN" sz="1800" dirty="0"/>
                        <a:t>,</a:t>
                      </a:r>
                      <a:r>
                        <a:rPr lang="en-US" sz="1800" dirty="0"/>
                        <a:t> q</a:t>
                      </a:r>
                      <a:r>
                        <a:rPr lang="en-US" sz="1600" baseline="-25000" dirty="0"/>
                        <a:t>4</a:t>
                      </a:r>
                      <a:r>
                        <a:rPr lang="en-IN" sz="18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(</a:t>
                      </a:r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4</a:t>
                      </a:r>
                      <a:r>
                        <a:rPr lang="en-IN" sz="1800" dirty="0"/>
                        <a:t>,</a:t>
                      </a:r>
                      <a:r>
                        <a:rPr lang="en-US" sz="1800" dirty="0"/>
                        <a:t> q</a:t>
                      </a:r>
                      <a:r>
                        <a:rPr lang="en-US" sz="1600" baseline="-25000" dirty="0"/>
                        <a:t>5</a:t>
                      </a:r>
                      <a:r>
                        <a:rPr lang="en-IN" sz="1800" dirty="0"/>
                        <a:t>)(✔)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(</a:t>
                      </a:r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2</a:t>
                      </a:r>
                      <a:r>
                        <a:rPr lang="en-IN" sz="1800" dirty="0"/>
                        <a:t>,</a:t>
                      </a:r>
                      <a:r>
                        <a:rPr lang="en-US" sz="1800" dirty="0"/>
                        <a:t> q</a:t>
                      </a:r>
                      <a:r>
                        <a:rPr lang="en-US" sz="1600" baseline="-25000" dirty="0"/>
                        <a:t>2</a:t>
                      </a:r>
                      <a:r>
                        <a:rPr lang="en-IN" sz="18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241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0190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038308" y="228600"/>
            <a:ext cx="9950493" cy="838200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Step5:Draw the table filling format to mark the respective cells from the above transition table.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C604736-A3B7-4C1C-8213-A0753D907E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533112"/>
              </p:ext>
            </p:extLst>
          </p:nvPr>
        </p:nvGraphicFramePr>
        <p:xfrm>
          <a:off x="2038308" y="1735406"/>
          <a:ext cx="9513282" cy="408841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85547">
                  <a:extLst>
                    <a:ext uri="{9D8B030D-6E8A-4147-A177-3AD203B41FA5}">
                      <a16:colId xmlns:a16="http://schemas.microsoft.com/office/drawing/2014/main" val="2035804693"/>
                    </a:ext>
                  </a:extLst>
                </a:gridCol>
                <a:gridCol w="1585547">
                  <a:extLst>
                    <a:ext uri="{9D8B030D-6E8A-4147-A177-3AD203B41FA5}">
                      <a16:colId xmlns:a16="http://schemas.microsoft.com/office/drawing/2014/main" val="958188008"/>
                    </a:ext>
                  </a:extLst>
                </a:gridCol>
                <a:gridCol w="1585547">
                  <a:extLst>
                    <a:ext uri="{9D8B030D-6E8A-4147-A177-3AD203B41FA5}">
                      <a16:colId xmlns:a16="http://schemas.microsoft.com/office/drawing/2014/main" val="2349337197"/>
                    </a:ext>
                  </a:extLst>
                </a:gridCol>
                <a:gridCol w="1585547">
                  <a:extLst>
                    <a:ext uri="{9D8B030D-6E8A-4147-A177-3AD203B41FA5}">
                      <a16:colId xmlns:a16="http://schemas.microsoft.com/office/drawing/2014/main" val="990793491"/>
                    </a:ext>
                  </a:extLst>
                </a:gridCol>
                <a:gridCol w="1585547">
                  <a:extLst>
                    <a:ext uri="{9D8B030D-6E8A-4147-A177-3AD203B41FA5}">
                      <a16:colId xmlns:a16="http://schemas.microsoft.com/office/drawing/2014/main" val="2513591472"/>
                    </a:ext>
                  </a:extLst>
                </a:gridCol>
                <a:gridCol w="1585547">
                  <a:extLst>
                    <a:ext uri="{9D8B030D-6E8A-4147-A177-3AD203B41FA5}">
                      <a16:colId xmlns:a16="http://schemas.microsoft.com/office/drawing/2014/main" val="2679616636"/>
                    </a:ext>
                  </a:extLst>
                </a:gridCol>
              </a:tblGrid>
              <a:tr h="68140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1549242"/>
                  </a:ext>
                </a:extLst>
              </a:tr>
              <a:tr h="6814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8769772"/>
                  </a:ext>
                </a:extLst>
              </a:tr>
              <a:tr h="6814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3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066333"/>
                  </a:ext>
                </a:extLst>
              </a:tr>
              <a:tr h="6814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7951863"/>
                  </a:ext>
                </a:extLst>
              </a:tr>
              <a:tr h="6814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5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2152110"/>
                  </a:ext>
                </a:extLst>
              </a:tr>
              <a:tr h="68140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0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1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2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3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4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7602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1714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991949" y="228600"/>
            <a:ext cx="9996852" cy="838200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Step6:The final unmarked states.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637B01-ACB3-43BF-B7A5-3D966D42E703}"/>
              </a:ext>
            </a:extLst>
          </p:cNvPr>
          <p:cNvSpPr/>
          <p:nvPr/>
        </p:nvSpPr>
        <p:spPr>
          <a:xfrm>
            <a:off x="1730702" y="2468342"/>
            <a:ext cx="436529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dirty="0"/>
              <a:t> 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The unmarked states are,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FB08BB-4C97-419F-9CA7-C97EE83F9B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8062880"/>
              </p:ext>
            </p:extLst>
          </p:nvPr>
        </p:nvGraphicFramePr>
        <p:xfrm>
          <a:off x="1899138" y="3429000"/>
          <a:ext cx="9996852" cy="66821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66142">
                  <a:extLst>
                    <a:ext uri="{9D8B030D-6E8A-4147-A177-3AD203B41FA5}">
                      <a16:colId xmlns:a16="http://schemas.microsoft.com/office/drawing/2014/main" val="3497305998"/>
                    </a:ext>
                  </a:extLst>
                </a:gridCol>
                <a:gridCol w="1666142">
                  <a:extLst>
                    <a:ext uri="{9D8B030D-6E8A-4147-A177-3AD203B41FA5}">
                      <a16:colId xmlns:a16="http://schemas.microsoft.com/office/drawing/2014/main" val="2671198044"/>
                    </a:ext>
                  </a:extLst>
                </a:gridCol>
                <a:gridCol w="1666142">
                  <a:extLst>
                    <a:ext uri="{9D8B030D-6E8A-4147-A177-3AD203B41FA5}">
                      <a16:colId xmlns:a16="http://schemas.microsoft.com/office/drawing/2014/main" val="391744774"/>
                    </a:ext>
                  </a:extLst>
                </a:gridCol>
                <a:gridCol w="1666142">
                  <a:extLst>
                    <a:ext uri="{9D8B030D-6E8A-4147-A177-3AD203B41FA5}">
                      <a16:colId xmlns:a16="http://schemas.microsoft.com/office/drawing/2014/main" val="2185411949"/>
                    </a:ext>
                  </a:extLst>
                </a:gridCol>
                <a:gridCol w="1666142">
                  <a:extLst>
                    <a:ext uri="{9D8B030D-6E8A-4147-A177-3AD203B41FA5}">
                      <a16:colId xmlns:a16="http://schemas.microsoft.com/office/drawing/2014/main" val="2178026905"/>
                    </a:ext>
                  </a:extLst>
                </a:gridCol>
                <a:gridCol w="1666142">
                  <a:extLst>
                    <a:ext uri="{9D8B030D-6E8A-4147-A177-3AD203B41FA5}">
                      <a16:colId xmlns:a16="http://schemas.microsoft.com/office/drawing/2014/main" val="3131523147"/>
                    </a:ext>
                  </a:extLst>
                </a:gridCol>
              </a:tblGrid>
              <a:tr h="6682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(</a:t>
                      </a:r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0</a:t>
                      </a:r>
                      <a:r>
                        <a:rPr lang="en-IN" sz="1800" dirty="0"/>
                        <a:t>,</a:t>
                      </a:r>
                      <a:r>
                        <a:rPr lang="en-US" sz="1800" dirty="0"/>
                        <a:t> q</a:t>
                      </a:r>
                      <a:r>
                        <a:rPr lang="en-US" sz="1600" baseline="-25000" dirty="0"/>
                        <a:t>1</a:t>
                      </a:r>
                      <a:r>
                        <a:rPr lang="en-IN" sz="18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(</a:t>
                      </a:r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0</a:t>
                      </a:r>
                      <a:r>
                        <a:rPr lang="en-IN" sz="1800" dirty="0"/>
                        <a:t>,</a:t>
                      </a:r>
                      <a:r>
                        <a:rPr lang="en-US" sz="1800" dirty="0"/>
                        <a:t> q</a:t>
                      </a:r>
                      <a:r>
                        <a:rPr lang="en-US" sz="1600" baseline="-25000" dirty="0"/>
                        <a:t>2</a:t>
                      </a:r>
                      <a:r>
                        <a:rPr lang="en-IN" sz="18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(</a:t>
                      </a:r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0</a:t>
                      </a:r>
                      <a:r>
                        <a:rPr lang="en-IN" sz="1800" dirty="0"/>
                        <a:t>,</a:t>
                      </a:r>
                      <a:r>
                        <a:rPr lang="en-US" sz="1800" dirty="0"/>
                        <a:t> q</a:t>
                      </a:r>
                      <a:r>
                        <a:rPr lang="en-US" sz="1600" baseline="-25000" dirty="0"/>
                        <a:t>3</a:t>
                      </a:r>
                      <a:r>
                        <a:rPr lang="en-IN" sz="18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(</a:t>
                      </a:r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1</a:t>
                      </a:r>
                      <a:r>
                        <a:rPr lang="en-IN" sz="1800" dirty="0"/>
                        <a:t>,</a:t>
                      </a:r>
                      <a:r>
                        <a:rPr lang="en-US" sz="1800" dirty="0"/>
                        <a:t> q</a:t>
                      </a:r>
                      <a:r>
                        <a:rPr lang="en-US" sz="1600" baseline="-25000" dirty="0"/>
                        <a:t>2</a:t>
                      </a:r>
                      <a:r>
                        <a:rPr lang="en-IN" sz="18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(</a:t>
                      </a:r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1</a:t>
                      </a:r>
                      <a:r>
                        <a:rPr lang="en-IN" sz="1800" dirty="0"/>
                        <a:t>,</a:t>
                      </a:r>
                      <a:r>
                        <a:rPr lang="en-US" sz="1800" dirty="0"/>
                        <a:t> q</a:t>
                      </a:r>
                      <a:r>
                        <a:rPr lang="en-US" sz="1600" baseline="-25000" dirty="0"/>
                        <a:t>3</a:t>
                      </a:r>
                      <a:r>
                        <a:rPr lang="en-IN" sz="18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(</a:t>
                      </a:r>
                      <a:r>
                        <a:rPr lang="en-US" sz="1800" dirty="0"/>
                        <a:t>q</a:t>
                      </a:r>
                      <a:r>
                        <a:rPr lang="en-US" sz="1600" baseline="-25000" dirty="0"/>
                        <a:t>2</a:t>
                      </a:r>
                      <a:r>
                        <a:rPr lang="en-IN" sz="1800" dirty="0"/>
                        <a:t>,</a:t>
                      </a:r>
                      <a:r>
                        <a:rPr lang="en-US" sz="1800" dirty="0"/>
                        <a:t> q</a:t>
                      </a:r>
                      <a:r>
                        <a:rPr lang="en-US" sz="1600" baseline="-25000" dirty="0"/>
                        <a:t>3</a:t>
                      </a:r>
                      <a:r>
                        <a:rPr lang="en-IN" sz="1800" dirty="0"/>
                        <a:t>)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360092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EF6189C8-FB17-486C-A5CC-9F27DD496345}"/>
              </a:ext>
            </a:extLst>
          </p:cNvPr>
          <p:cNvSpPr/>
          <p:nvPr/>
        </p:nvSpPr>
        <p:spPr>
          <a:xfrm>
            <a:off x="1899138" y="4534653"/>
            <a:ext cx="87414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total number of state 6 not reduce remain it same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851182"/>
      </p:ext>
    </p:extLst>
  </p:cSld>
  <p:clrMapOvr>
    <a:masterClrMapping/>
  </p:clrMapOvr>
</p:sld>
</file>

<file path=ppt/theme/theme1.xml><?xml version="1.0" encoding="utf-8"?>
<a:theme xmlns:a="http://schemas.openxmlformats.org/drawingml/2006/main" name="Presidency college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</TotalTime>
  <Words>610</Words>
  <Application>Microsoft Office PowerPoint</Application>
  <PresentationFormat>Widescreen</PresentationFormat>
  <Paragraphs>143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Presidency college template</vt:lpstr>
      <vt:lpstr>THEORY OF COMPUTATION</vt:lpstr>
      <vt:lpstr>Minimization of DFA</vt:lpstr>
      <vt:lpstr>Steps:</vt:lpstr>
      <vt:lpstr>Problem:</vt:lpstr>
      <vt:lpstr>Step1:Identify the given number of states.</vt:lpstr>
      <vt:lpstr>Step2: Draw the upper triangular matrix for the given problem.</vt:lpstr>
      <vt:lpstr>Step3:Draw the table filling format to mark the state reachable to final state.</vt:lpstr>
      <vt:lpstr>Step4: Draw the transition table for unmarked states.</vt:lpstr>
      <vt:lpstr>Step5:Draw the table filling format to mark the respective cells from the above transition table.</vt:lpstr>
      <vt:lpstr>Step6:The final unmarked states.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THEORY OF COMPUTATION</dc:title>
  <dc:creator>Abhishek</dc:creator>
  <cp:lastModifiedBy>Abhishek</cp:lastModifiedBy>
  <cp:revision>21</cp:revision>
  <dcterms:created xsi:type="dcterms:W3CDTF">2024-04-23T18:16:07Z</dcterms:created>
  <dcterms:modified xsi:type="dcterms:W3CDTF">2024-04-28T18:02:26Z</dcterms:modified>
</cp:coreProperties>
</file>