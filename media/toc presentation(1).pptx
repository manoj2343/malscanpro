
<file path=[Content_Types].xml><?xml version="1.0" encoding="utf-8"?>
<Types xmlns="http://schemas.openxmlformats.org/package/2006/content-types">
  <Default Extension="png" ContentType="image/png"/>
  <Default Extension="svg" ContentType="image/sv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  <p:sldMasterId id="2147483789" r:id="rId2"/>
  </p:sldMasterIdLst>
  <p:notesMasterIdLst>
    <p:notesMasterId r:id="rId11"/>
  </p:notesMasterIdLst>
  <p:handoutMasterIdLst>
    <p:handoutMasterId r:id="rId12"/>
  </p:handoutMasterIdLst>
  <p:sldIdLst>
    <p:sldId id="321" r:id="rId3"/>
    <p:sldId id="491" r:id="rId4"/>
    <p:sldId id="428" r:id="rId5"/>
    <p:sldId id="432" r:id="rId6"/>
    <p:sldId id="435" r:id="rId7"/>
    <p:sldId id="497" r:id="rId8"/>
    <p:sldId id="430" r:id="rId9"/>
    <p:sldId id="43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63" d="100"/>
          <a:sy n="63" d="100"/>
        </p:scale>
        <p:origin x="105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B7EE1-E18D-4B4C-9984-1C404C9A9ED8}" type="datetimeFigureOut">
              <a:rPr lang="en-US" smtClean="0"/>
              <a:pPr/>
              <a:t>5/1/2024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31CDB-2E86-4B4D-B769-2D5192EDCCA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714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9DC81C-E8AD-47FA-BD53-45009F468170}" type="datetimeFigureOut">
              <a:rPr lang="en-US"/>
              <a:pPr>
                <a:defRPr/>
              </a:pPr>
              <a:t>5/1/2024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BEFDF9E-9522-47E2-97C4-AD653618A1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713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092" y="1560269"/>
            <a:ext cx="7772400" cy="1162050"/>
          </a:xfrm>
          <a:solidFill>
            <a:srgbClr val="000051"/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6092" y="3110279"/>
            <a:ext cx="7772400" cy="762000"/>
          </a:xfrm>
          <a:solidFill>
            <a:srgbClr val="FFC000"/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0600"/>
            <a:ext cx="1219200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1000" b="1" dirty="0">
                <a:solidFill>
                  <a:srgbClr val="002060"/>
                </a:solidFill>
              </a:rPr>
              <a:t>(Autonomous)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8" name="Picture 7" descr="Image preview">
            <a:extLst>
              <a:ext uri="{FF2B5EF4-FFF2-40B4-BE49-F238E27FC236}">
                <a16:creationId xmlns:a16="http://schemas.microsoft.com/office/drawing/2014/main" id="{6A3F610A-891D-4D48-AE49-49538A82C18E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648200"/>
            <a:ext cx="6629400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460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9925"/>
            <a:ext cx="76962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00823" y="228600"/>
            <a:ext cx="7790777" cy="8382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72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823" y="228600"/>
            <a:ext cx="7790777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1100" y="1219201"/>
            <a:ext cx="38862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219201"/>
            <a:ext cx="38862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5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089" y="304801"/>
            <a:ext cx="7718511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3089" y="1219200"/>
            <a:ext cx="383231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3089" y="2119311"/>
            <a:ext cx="3832311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73226" y="1219200"/>
            <a:ext cx="3718374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73226" y="2119311"/>
            <a:ext cx="3718374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44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823" y="152400"/>
            <a:ext cx="7790777" cy="9144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88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58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022" y="608012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2450" y="113823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022" y="2208212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789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43400" y="987426"/>
            <a:ext cx="45720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21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696200" cy="9144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201"/>
            <a:ext cx="7696200" cy="48761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6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132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5381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5536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696199" cy="838200"/>
          </a:xfrm>
          <a:ln>
            <a:noFill/>
          </a:ln>
        </p:spPr>
        <p:txBody>
          <a:bodyPr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1"/>
            <a:ext cx="7696198" cy="5257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79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092" y="1560269"/>
            <a:ext cx="7772400" cy="1162050"/>
          </a:xfrm>
          <a:solidFill>
            <a:srgbClr val="000051"/>
          </a:solidFill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6092" y="3110279"/>
            <a:ext cx="7772400" cy="762000"/>
          </a:xfrm>
          <a:solidFill>
            <a:srgbClr val="FFC000"/>
          </a:solidFill>
        </p:spPr>
        <p:txBody>
          <a:bodyPr anchor="ctr"/>
          <a:lstStyle>
            <a:lvl1pPr marL="0" indent="0" algn="l">
              <a:buNone/>
              <a:defRPr b="1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90600"/>
            <a:ext cx="1219200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" b="1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750" b="1" dirty="0">
                <a:solidFill>
                  <a:srgbClr val="002060"/>
                </a:solidFill>
              </a:rPr>
              <a:t>(Autonomous)</a:t>
            </a:r>
            <a:endParaRPr lang="en-US" sz="750" b="1" dirty="0">
              <a:solidFill>
                <a:srgbClr val="0070C0"/>
              </a:solidFill>
            </a:endParaRPr>
          </a:p>
        </p:txBody>
      </p:sp>
      <p:pic>
        <p:nvPicPr>
          <p:cNvPr id="8" name="Picture 7" descr="Image preview">
            <a:extLst>
              <a:ext uri="{FF2B5EF4-FFF2-40B4-BE49-F238E27FC236}">
                <a16:creationId xmlns:a16="http://schemas.microsoft.com/office/drawing/2014/main" id="{6A3F610A-891D-4D48-AE49-49538A82C18E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648200"/>
            <a:ext cx="6629400" cy="152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846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9927"/>
            <a:ext cx="76962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00824" y="228600"/>
            <a:ext cx="7790777" cy="838200"/>
          </a:xfrm>
        </p:spPr>
        <p:txBody>
          <a:bodyPr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473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824" y="228600"/>
            <a:ext cx="7790777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1100" y="1219203"/>
            <a:ext cx="38862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219203"/>
            <a:ext cx="3886200" cy="4876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495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3090" y="304801"/>
            <a:ext cx="7718511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3090" y="1219200"/>
            <a:ext cx="383231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3090" y="2119311"/>
            <a:ext cx="3832311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73226" y="1219200"/>
            <a:ext cx="3718374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73226" y="2119311"/>
            <a:ext cx="3718374" cy="4010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198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824" y="152400"/>
            <a:ext cx="7790777" cy="914400"/>
          </a:xfrm>
        </p:spPr>
        <p:txBody>
          <a:bodyPr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002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09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023" y="608012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2450" y="1138238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023" y="2208212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5904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43400" y="987428"/>
            <a:ext cx="45720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8140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696200" cy="914400"/>
          </a:xfrm>
        </p:spPr>
        <p:txBody>
          <a:bodyPr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203"/>
            <a:ext cx="7696200" cy="48761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961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9132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1" y="365125"/>
            <a:ext cx="5381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649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1" y="228600"/>
            <a:ext cx="7696199" cy="838200"/>
          </a:xfrm>
          <a:ln>
            <a:noFill/>
          </a:ln>
        </p:spPr>
        <p:txBody>
          <a:bodyPr>
            <a:normAutofit/>
          </a:bodyPr>
          <a:lstStyle>
            <a:lvl1pPr algn="l">
              <a:defRPr sz="2025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19203"/>
            <a:ext cx="7696198" cy="5257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219200" y="1143000"/>
            <a:ext cx="7924800" cy="0"/>
          </a:xfrm>
          <a:prstGeom prst="line">
            <a:avLst/>
          </a:prstGeom>
          <a:ln w="28575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35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200" cy="68580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823" y="228600"/>
            <a:ext cx="7790777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823" y="1448475"/>
            <a:ext cx="7790777" cy="464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958" y="6629738"/>
            <a:ext cx="7789242" cy="338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5660000" flipH="1">
            <a:off x="8343562" y="6363038"/>
            <a:ext cx="533400" cy="5334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 rot="15660000" flipH="1">
            <a:off x="8495962" y="6133762"/>
            <a:ext cx="533400" cy="533400"/>
          </a:xfrm>
          <a:prstGeom prst="triangle">
            <a:avLst>
              <a:gd name="adj" fmla="val 0"/>
            </a:avLst>
          </a:prstGeom>
          <a:solidFill>
            <a:srgbClr val="00005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15660000" flipH="1">
            <a:off x="8374010" y="6286163"/>
            <a:ext cx="533400" cy="533400"/>
          </a:xfrm>
          <a:prstGeom prst="triangle">
            <a:avLst>
              <a:gd name="adj" fmla="val 0"/>
            </a:avLst>
          </a:prstGeom>
          <a:solidFill>
            <a:srgbClr val="FFD54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91" y="114042"/>
            <a:ext cx="894162" cy="81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55606" y="3449935"/>
            <a:ext cx="1330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solidFill>
                  <a:srgbClr val="C00000"/>
                </a:solidFill>
                <a:latin typeface="Cambria" panose="02040503050406030204" pitchFamily="18" charset="0"/>
              </a:rPr>
              <a:t>Reaccredited</a:t>
            </a:r>
            <a:r>
              <a:rPr lang="en-IN" sz="1200" b="1" i="1" baseline="0" dirty="0">
                <a:solidFill>
                  <a:srgbClr val="C00000"/>
                </a:solidFill>
                <a:latin typeface="Cambria" panose="02040503050406030204" pitchFamily="18" charset="0"/>
              </a:rPr>
              <a:t> by NAAC with A+</a:t>
            </a:r>
            <a:endParaRPr lang="en-US" sz="1200" b="1" i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1" y="5316483"/>
            <a:ext cx="838199" cy="1576133"/>
          </a:xfrm>
          <a:prstGeom prst="rect">
            <a:avLst/>
          </a:prstGeom>
        </p:spPr>
      </p:pic>
      <p:sp>
        <p:nvSpPr>
          <p:cNvPr id="15" name="Text Box 1073741934"/>
          <p:cNvSpPr txBox="1"/>
          <p:nvPr/>
        </p:nvSpPr>
        <p:spPr>
          <a:xfrm>
            <a:off x="181311" y="4876800"/>
            <a:ext cx="838201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000" b="1" dirty="0">
                <a:solidFill>
                  <a:srgbClr val="FFFFFF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Presidency    Group</a:t>
            </a:r>
            <a:endParaRPr lang="en-US" sz="1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" b="-1"/>
          <a:stretch/>
        </p:blipFill>
        <p:spPr>
          <a:xfrm>
            <a:off x="168611" y="2277966"/>
            <a:ext cx="940281" cy="843164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0" y="6629738"/>
            <a:ext cx="148069" cy="676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AC0CEB4-3DAC-4F91-9D98-C072F68EB42C}"/>
              </a:ext>
            </a:extLst>
          </p:cNvPr>
          <p:cNvSpPr/>
          <p:nvPr userDrawn="1"/>
        </p:nvSpPr>
        <p:spPr>
          <a:xfrm>
            <a:off x="0" y="1007268"/>
            <a:ext cx="1200823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1000" dirty="0">
                <a:solidFill>
                  <a:srgbClr val="002060"/>
                </a:solidFill>
              </a:rPr>
              <a:t>(Autonomous)</a:t>
            </a:r>
            <a:endParaRPr lang="en-US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rgbClr val="00005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1219200" cy="68580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824" y="228600"/>
            <a:ext cx="7790777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0824" y="1448477"/>
            <a:ext cx="7790777" cy="464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958" y="6629738"/>
            <a:ext cx="7789242" cy="338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5660000" flipH="1">
            <a:off x="8343562" y="6363038"/>
            <a:ext cx="533400" cy="533400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Isosceles Triangle 23"/>
          <p:cNvSpPr/>
          <p:nvPr/>
        </p:nvSpPr>
        <p:spPr>
          <a:xfrm rot="15660000" flipH="1">
            <a:off x="8495962" y="6133762"/>
            <a:ext cx="533400" cy="533400"/>
          </a:xfrm>
          <a:prstGeom prst="triangle">
            <a:avLst>
              <a:gd name="adj" fmla="val 0"/>
            </a:avLst>
          </a:prstGeom>
          <a:solidFill>
            <a:srgbClr val="000050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Isosceles Triangle 24"/>
          <p:cNvSpPr/>
          <p:nvPr/>
        </p:nvSpPr>
        <p:spPr>
          <a:xfrm rot="15660000" flipH="1">
            <a:off x="8374010" y="6286163"/>
            <a:ext cx="533400" cy="533400"/>
          </a:xfrm>
          <a:prstGeom prst="triangle">
            <a:avLst>
              <a:gd name="adj" fmla="val 0"/>
            </a:avLst>
          </a:prstGeom>
          <a:solidFill>
            <a:srgbClr val="FFD54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91" y="114042"/>
            <a:ext cx="894162" cy="81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55606" y="3449936"/>
            <a:ext cx="1330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b="1" i="1" dirty="0">
                <a:solidFill>
                  <a:srgbClr val="C00000"/>
                </a:solidFill>
                <a:latin typeface="Cambria" panose="02040503050406030204" pitchFamily="18" charset="0"/>
              </a:rPr>
              <a:t>Reaccredited</a:t>
            </a:r>
            <a:r>
              <a:rPr lang="en-IN" sz="900" b="1" i="1" baseline="0" dirty="0">
                <a:solidFill>
                  <a:srgbClr val="C00000"/>
                </a:solidFill>
                <a:latin typeface="Cambria" panose="02040503050406030204" pitchFamily="18" charset="0"/>
              </a:rPr>
              <a:t> by NAAC with A+</a:t>
            </a:r>
            <a:endParaRPr lang="en-US" sz="900" b="1" i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" y="5316485"/>
            <a:ext cx="838199" cy="1576133"/>
          </a:xfrm>
          <a:prstGeom prst="rect">
            <a:avLst/>
          </a:prstGeom>
        </p:spPr>
      </p:pic>
      <p:sp>
        <p:nvSpPr>
          <p:cNvPr id="15" name="Text Box 1073741934"/>
          <p:cNvSpPr txBox="1"/>
          <p:nvPr/>
        </p:nvSpPr>
        <p:spPr>
          <a:xfrm>
            <a:off x="181312" y="4876800"/>
            <a:ext cx="838201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6350">
            <a:noFill/>
          </a:ln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50" b="1" dirty="0">
                <a:solidFill>
                  <a:srgbClr val="FFFFFF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Presidency    Group</a:t>
            </a:r>
            <a:endParaRPr lang="en-US" sz="75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2" b="-1"/>
          <a:stretch/>
        </p:blipFill>
        <p:spPr>
          <a:xfrm>
            <a:off x="168611" y="2277966"/>
            <a:ext cx="940281" cy="843164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" y="6629738"/>
            <a:ext cx="148069" cy="676"/>
          </a:xfrm>
          <a:prstGeom prst="line">
            <a:avLst/>
          </a:prstGeom>
          <a:ln w="228600">
            <a:solidFill>
              <a:srgbClr val="000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AC0CEB4-3DAC-4F91-9D98-C072F68EB42C}"/>
              </a:ext>
            </a:extLst>
          </p:cNvPr>
          <p:cNvSpPr/>
          <p:nvPr userDrawn="1"/>
        </p:nvSpPr>
        <p:spPr>
          <a:xfrm>
            <a:off x="1" y="1007268"/>
            <a:ext cx="1200823" cy="457200"/>
          </a:xfrm>
          <a:prstGeom prst="rect">
            <a:avLst/>
          </a:prstGeom>
          <a:solidFill>
            <a:srgbClr val="FFD54F"/>
          </a:solidFill>
          <a:ln>
            <a:solidFill>
              <a:srgbClr val="FFD5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rgbClr val="002060"/>
                </a:solidFill>
              </a:rPr>
              <a:t>Presidency College </a:t>
            </a:r>
          </a:p>
          <a:p>
            <a:pPr algn="ctr"/>
            <a:r>
              <a:rPr lang="en-US" sz="750" dirty="0">
                <a:solidFill>
                  <a:srgbClr val="002060"/>
                </a:solidFill>
              </a:rPr>
              <a:t>(Autonomous)</a:t>
            </a:r>
            <a:endParaRPr lang="en-US" sz="7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59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sldNum="0" hdr="0" dt="0"/>
  <p:txStyles>
    <p:titleStyle>
      <a:lvl1pPr algn="l" defTabSz="685800" rtl="0" eaLnBrk="1" latinLnBrk="0" hangingPunct="1">
        <a:spcBef>
          <a:spcPct val="0"/>
        </a:spcBef>
        <a:buNone/>
        <a:defRPr sz="2700" b="1" kern="1200">
          <a:solidFill>
            <a:srgbClr val="00005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266092" y="1560269"/>
            <a:ext cx="7772400" cy="1162050"/>
          </a:xfrm>
        </p:spPr>
        <p:txBody>
          <a:bodyPr/>
          <a:lstStyle/>
          <a:p>
            <a:pPr algn="ctr"/>
            <a:r>
              <a:rPr lang="en-US" u="sng" dirty="0"/>
              <a:t>THEORY OF COMPUTATION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7772400" cy="1752600"/>
          </a:xfrm>
        </p:spPr>
        <p:txBody>
          <a:bodyPr>
            <a:normAutofit/>
          </a:bodyPr>
          <a:lstStyle/>
          <a:p>
            <a:pPr algn="ctr"/>
            <a:endParaRPr lang="en-IN" dirty="0"/>
          </a:p>
          <a:p>
            <a:pPr algn="ctr"/>
            <a:r>
              <a:rPr lang="en-US" u="sng" dirty="0"/>
              <a:t>-TOPIC-</a:t>
            </a:r>
          </a:p>
          <a:p>
            <a:pPr algn="ctr"/>
            <a:r>
              <a:rPr lang="en-US" dirty="0"/>
              <a:t>MINIMIZATION OF FINITE AUTOMATA</a:t>
            </a:r>
            <a:endParaRPr lang="en-US" u="sng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15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u="heavy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Problem </a:t>
            </a:r>
            <a:r>
              <a:rPr lang="en-IN" sz="3200" u="heavy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4</a:t>
            </a:r>
            <a:r>
              <a:rPr lang="en-IN" sz="3200" spc="-10">
                <a:solidFill>
                  <a:srgbClr val="000000"/>
                </a:solidFill>
              </a:rPr>
              <a:t>: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9896E-0E1A-446A-B525-3848A0B47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99" y="1604962"/>
            <a:ext cx="6629401" cy="380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AA464F-2747-45B2-9BAC-E752CC85E6CC}"/>
              </a:ext>
            </a:extLst>
          </p:cNvPr>
          <p:cNvSpPr txBox="1"/>
          <p:nvPr/>
        </p:nvSpPr>
        <p:spPr>
          <a:xfrm>
            <a:off x="1447800" y="3105834"/>
            <a:ext cx="1417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dirty="0"/>
              <a:t>Initial/Start state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CA9BD-5277-4B48-BBA5-9F65B5BCF16E}"/>
              </a:ext>
            </a:extLst>
          </p:cNvPr>
          <p:cNvSpPr txBox="1"/>
          <p:nvPr/>
        </p:nvSpPr>
        <p:spPr>
          <a:xfrm>
            <a:off x="7391401" y="5410200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r>
              <a:rPr lang="en-US" dirty="0"/>
              <a:t>Final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63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spc="-5" dirty="0">
                <a:solidFill>
                  <a:srgbClr val="000000"/>
                </a:solidFill>
              </a:rPr>
              <a:t>Step2:</a:t>
            </a:r>
            <a:r>
              <a:rPr lang="en-US" sz="2800" spc="-150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Draw</a:t>
            </a:r>
            <a:r>
              <a:rPr lang="en-US" sz="2800" spc="-165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the</a:t>
            </a:r>
            <a:r>
              <a:rPr lang="en-US" sz="2800" spc="-140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upper</a:t>
            </a:r>
            <a:r>
              <a:rPr lang="en-US" sz="2800" spc="-1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triangular</a:t>
            </a:r>
            <a:r>
              <a:rPr lang="en-US" sz="2800" spc="-16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matrix</a:t>
            </a:r>
            <a:r>
              <a:rPr lang="en-US" sz="2800" spc="-16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for</a:t>
            </a:r>
            <a:r>
              <a:rPr lang="en-US" sz="2800" spc="-17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the</a:t>
            </a:r>
            <a:r>
              <a:rPr lang="en-US" sz="2800" spc="-14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given</a:t>
            </a:r>
            <a:r>
              <a:rPr lang="en-US" sz="2800" spc="-15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problem.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FD4D-1B50-42ED-9F9C-39EF125E6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313AD64-BD95-406F-AD3A-2FFE6A06D498}"/>
              </a:ext>
            </a:extLst>
          </p:cNvPr>
          <p:cNvSpPr/>
          <p:nvPr/>
        </p:nvSpPr>
        <p:spPr>
          <a:xfrm>
            <a:off x="2042160" y="2610485"/>
            <a:ext cx="6259195" cy="3230880"/>
          </a:xfrm>
          <a:custGeom>
            <a:avLst/>
            <a:gdLst/>
            <a:ahLst/>
            <a:cxnLst/>
            <a:rect l="l" t="t" r="r" b="b"/>
            <a:pathLst>
              <a:path w="6259195" h="3230879">
                <a:moveTo>
                  <a:pt x="6259195" y="0"/>
                </a:moveTo>
                <a:lnTo>
                  <a:pt x="6259195" y="3230879"/>
                </a:lnTo>
                <a:lnTo>
                  <a:pt x="0" y="0"/>
                </a:lnTo>
                <a:lnTo>
                  <a:pt x="6259195" y="0"/>
                </a:lnTo>
                <a:close/>
              </a:path>
            </a:pathLst>
          </a:custGeom>
          <a:ln w="12192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DF9BC76-EBAD-4EE2-AFAC-AF30A4ABB872}"/>
              </a:ext>
            </a:extLst>
          </p:cNvPr>
          <p:cNvSpPr txBox="1"/>
          <p:nvPr/>
        </p:nvSpPr>
        <p:spPr>
          <a:xfrm>
            <a:off x="3670172" y="2730001"/>
            <a:ext cx="4365625" cy="20720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R="111760" algn="r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Calibri"/>
                <a:cs typeface="Calibri"/>
              </a:rPr>
              <a:t>(q</a:t>
            </a:r>
            <a:r>
              <a:rPr sz="2800" spc="-5" baseline="-250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(q</a:t>
            </a:r>
            <a:r>
              <a:rPr sz="2800" spc="-5" baseline="-250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2</a:t>
            </a:r>
            <a:r>
              <a:rPr sz="2800" spc="-5" dirty="0">
                <a:latin typeface="Calibri"/>
                <a:cs typeface="Calibri"/>
              </a:rPr>
              <a:t>)(q</a:t>
            </a:r>
            <a:r>
              <a:rPr sz="2800" spc="-5" baseline="-250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3</a:t>
            </a:r>
            <a:r>
              <a:rPr sz="2800" spc="-5" dirty="0">
                <a:latin typeface="Calibri"/>
                <a:cs typeface="Calibri"/>
              </a:rPr>
              <a:t>)(q</a:t>
            </a:r>
            <a:r>
              <a:rPr sz="2800" spc="-5" baseline="-25000" dirty="0">
                <a:latin typeface="Calibri"/>
                <a:cs typeface="Calibri"/>
              </a:rPr>
              <a:t>0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4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R="77470" algn="r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Calibri"/>
                <a:cs typeface="Calibri"/>
              </a:rPr>
              <a:t>(q</a:t>
            </a:r>
            <a:r>
              <a:rPr sz="2800" spc="-5" baseline="-250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2</a:t>
            </a:r>
            <a:r>
              <a:rPr sz="2800" spc="-5" dirty="0">
                <a:latin typeface="Calibri"/>
                <a:cs typeface="Calibri"/>
              </a:rPr>
              <a:t>)(q</a:t>
            </a:r>
            <a:r>
              <a:rPr sz="2800" spc="-5" baseline="-250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3</a:t>
            </a:r>
            <a:r>
              <a:rPr sz="2800" spc="-5" dirty="0">
                <a:latin typeface="Calibri"/>
                <a:cs typeface="Calibri"/>
              </a:rPr>
              <a:t>)(q</a:t>
            </a:r>
            <a:r>
              <a:rPr sz="2800" spc="-5" baseline="-25000" dirty="0">
                <a:latin typeface="Calibri"/>
                <a:cs typeface="Calibri"/>
              </a:rPr>
              <a:t>1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4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R="32384" algn="r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libri"/>
                <a:cs typeface="Calibri"/>
              </a:rPr>
              <a:t>(q</a:t>
            </a:r>
            <a:r>
              <a:rPr sz="2800" spc="-5" baseline="-25000" dirty="0">
                <a:latin typeface="Calibri"/>
                <a:cs typeface="Calibri"/>
              </a:rPr>
              <a:t>2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3</a:t>
            </a:r>
            <a:r>
              <a:rPr sz="2800" spc="-5" dirty="0">
                <a:latin typeface="Calibri"/>
                <a:cs typeface="Calibri"/>
              </a:rPr>
              <a:t>)(q</a:t>
            </a:r>
            <a:r>
              <a:rPr sz="2800" spc="-5" baseline="-25000" dirty="0">
                <a:latin typeface="Calibri"/>
                <a:cs typeface="Calibri"/>
              </a:rPr>
              <a:t>2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4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650"/>
              </a:spcBef>
            </a:pPr>
            <a:r>
              <a:rPr sz="2800" spc="-5" dirty="0">
                <a:latin typeface="Calibri"/>
                <a:cs typeface="Calibri"/>
              </a:rPr>
              <a:t>(q</a:t>
            </a:r>
            <a:r>
              <a:rPr sz="2800" spc="-5" baseline="-25000" dirty="0">
                <a:latin typeface="Calibri"/>
                <a:cs typeface="Calibri"/>
              </a:rPr>
              <a:t>3</a:t>
            </a:r>
            <a:r>
              <a:rPr sz="2800" spc="-5" dirty="0">
                <a:latin typeface="Calibri"/>
                <a:cs typeface="Calibri"/>
              </a:rPr>
              <a:t>,q</a:t>
            </a:r>
            <a:r>
              <a:rPr sz="2800" spc="-5" baseline="-25000" dirty="0">
                <a:latin typeface="Calibri"/>
                <a:cs typeface="Calibri"/>
              </a:rPr>
              <a:t>4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E966262D-37C3-44E0-84D1-2E813FDBCAE9}"/>
              </a:ext>
            </a:extLst>
          </p:cNvPr>
          <p:cNvSpPr/>
          <p:nvPr/>
        </p:nvSpPr>
        <p:spPr>
          <a:xfrm>
            <a:off x="7964850" y="2895600"/>
            <a:ext cx="251979" cy="282604"/>
          </a:xfrm>
          <a:custGeom>
            <a:avLst/>
            <a:gdLst/>
            <a:ahLst/>
            <a:cxnLst/>
            <a:rect l="l" t="t" r="r" b="b"/>
            <a:pathLst>
              <a:path w="559276" h="578811">
                <a:moveTo>
                  <a:pt x="0" y="0"/>
                </a:moveTo>
                <a:lnTo>
                  <a:pt x="559276" y="0"/>
                </a:lnTo>
                <a:lnTo>
                  <a:pt x="559276" y="578811"/>
                </a:lnTo>
                <a:lnTo>
                  <a:pt x="0" y="5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EA5F74A9-F2DB-4D37-ABC5-B2B071D47139}"/>
              </a:ext>
            </a:extLst>
          </p:cNvPr>
          <p:cNvSpPr/>
          <p:nvPr/>
        </p:nvSpPr>
        <p:spPr>
          <a:xfrm>
            <a:off x="7996345" y="3415279"/>
            <a:ext cx="251979" cy="282604"/>
          </a:xfrm>
          <a:custGeom>
            <a:avLst/>
            <a:gdLst/>
            <a:ahLst/>
            <a:cxnLst/>
            <a:rect l="l" t="t" r="r" b="b"/>
            <a:pathLst>
              <a:path w="559276" h="578811">
                <a:moveTo>
                  <a:pt x="0" y="0"/>
                </a:moveTo>
                <a:lnTo>
                  <a:pt x="559276" y="0"/>
                </a:lnTo>
                <a:lnTo>
                  <a:pt x="559276" y="578811"/>
                </a:lnTo>
                <a:lnTo>
                  <a:pt x="0" y="5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BCA4AB7B-51A6-4E67-A2F8-4DB25457A539}"/>
              </a:ext>
            </a:extLst>
          </p:cNvPr>
          <p:cNvSpPr/>
          <p:nvPr/>
        </p:nvSpPr>
        <p:spPr>
          <a:xfrm>
            <a:off x="8013903" y="3934958"/>
            <a:ext cx="251979" cy="282604"/>
          </a:xfrm>
          <a:custGeom>
            <a:avLst/>
            <a:gdLst/>
            <a:ahLst/>
            <a:cxnLst/>
            <a:rect l="l" t="t" r="r" b="b"/>
            <a:pathLst>
              <a:path w="559276" h="578811">
                <a:moveTo>
                  <a:pt x="0" y="0"/>
                </a:moveTo>
                <a:lnTo>
                  <a:pt x="559276" y="0"/>
                </a:lnTo>
                <a:lnTo>
                  <a:pt x="559276" y="578811"/>
                </a:lnTo>
                <a:lnTo>
                  <a:pt x="0" y="5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0AD11401-9427-4C54-B345-4B05AF115D04}"/>
              </a:ext>
            </a:extLst>
          </p:cNvPr>
          <p:cNvSpPr/>
          <p:nvPr/>
        </p:nvSpPr>
        <p:spPr>
          <a:xfrm>
            <a:off x="8024125" y="4454637"/>
            <a:ext cx="251979" cy="282604"/>
          </a:xfrm>
          <a:custGeom>
            <a:avLst/>
            <a:gdLst/>
            <a:ahLst/>
            <a:cxnLst/>
            <a:rect l="l" t="t" r="r" b="b"/>
            <a:pathLst>
              <a:path w="559276" h="578811">
                <a:moveTo>
                  <a:pt x="0" y="0"/>
                </a:moveTo>
                <a:lnTo>
                  <a:pt x="559276" y="0"/>
                </a:lnTo>
                <a:lnTo>
                  <a:pt x="559276" y="578811"/>
                </a:lnTo>
                <a:lnTo>
                  <a:pt x="0" y="57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7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spc="-20" dirty="0">
                <a:solidFill>
                  <a:srgbClr val="000000"/>
                </a:solidFill>
              </a:rPr>
              <a:t>Step3:Draw</a:t>
            </a:r>
            <a:r>
              <a:rPr lang="en-US" sz="2800" spc="-165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the</a:t>
            </a:r>
            <a:r>
              <a:rPr lang="en-US" sz="2800" spc="-120" dirty="0">
                <a:solidFill>
                  <a:srgbClr val="000000"/>
                </a:solidFill>
              </a:rPr>
              <a:t> </a:t>
            </a:r>
            <a:r>
              <a:rPr lang="en-US" sz="2800" spc="-20" dirty="0">
                <a:solidFill>
                  <a:srgbClr val="000000"/>
                </a:solidFill>
              </a:rPr>
              <a:t>table</a:t>
            </a:r>
            <a:r>
              <a:rPr lang="en-US" sz="2800" spc="-120" dirty="0">
                <a:solidFill>
                  <a:srgbClr val="000000"/>
                </a:solidFill>
              </a:rPr>
              <a:t> </a:t>
            </a:r>
            <a:r>
              <a:rPr lang="en-US" sz="2800" spc="-20" dirty="0">
                <a:solidFill>
                  <a:srgbClr val="000000"/>
                </a:solidFill>
              </a:rPr>
              <a:t>filling</a:t>
            </a:r>
            <a:r>
              <a:rPr lang="en-US" sz="2800" spc="-145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format</a:t>
            </a:r>
            <a:r>
              <a:rPr lang="en-US" sz="2800" spc="-12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to</a:t>
            </a:r>
            <a:r>
              <a:rPr lang="en-US" sz="2800" spc="-155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mark</a:t>
            </a:r>
            <a:r>
              <a:rPr lang="en-US" sz="2800" spc="-16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the</a:t>
            </a:r>
            <a:r>
              <a:rPr lang="en-US" sz="2800" spc="-114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state</a:t>
            </a:r>
            <a:r>
              <a:rPr lang="en-US" sz="2800" spc="-125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reachable</a:t>
            </a:r>
            <a:r>
              <a:rPr lang="en-US" sz="2800" spc="-145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to </a:t>
            </a:r>
            <a:r>
              <a:rPr lang="en-US" sz="2800" spc="-64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final</a:t>
            </a:r>
            <a:r>
              <a:rPr lang="en-US" sz="2800" spc="-5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state</a:t>
            </a:r>
            <a:r>
              <a:rPr lang="en-US" sz="2800" spc="-5" dirty="0">
                <a:solidFill>
                  <a:srgbClr val="000000"/>
                </a:solidFill>
              </a:rPr>
              <a:t>.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88BC0E-BECE-43BA-90D4-0E949AF5B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6D659A2-D234-441B-95D6-4448B9D9F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8871919"/>
              </p:ext>
            </p:extLst>
          </p:nvPr>
        </p:nvGraphicFramePr>
        <p:xfrm>
          <a:off x="1676400" y="1676400"/>
          <a:ext cx="7239000" cy="42021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1057624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20037794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121389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49288479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53744255"/>
                    </a:ext>
                  </a:extLst>
                </a:gridCol>
              </a:tblGrid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1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784561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2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501967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3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908553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4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7848442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0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1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2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3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7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7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spc="-20" dirty="0">
                <a:solidFill>
                  <a:srgbClr val="000000"/>
                </a:solidFill>
              </a:rPr>
              <a:t>Step4:</a:t>
            </a:r>
            <a:r>
              <a:rPr lang="en-US" sz="2800" spc="-14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Draw</a:t>
            </a:r>
            <a:r>
              <a:rPr lang="en-US" sz="2800" spc="-185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the</a:t>
            </a:r>
            <a:r>
              <a:rPr lang="en-US" sz="2800" spc="-16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transition</a:t>
            </a:r>
            <a:r>
              <a:rPr lang="en-US" sz="2800" spc="-18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table</a:t>
            </a:r>
            <a:r>
              <a:rPr lang="en-US" sz="2800" spc="-16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for</a:t>
            </a:r>
            <a:r>
              <a:rPr lang="en-US" sz="2800" spc="-17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unmarked</a:t>
            </a:r>
            <a:r>
              <a:rPr lang="en-US" sz="2800" spc="-1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sz="2800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states</a:t>
            </a:r>
            <a:r>
              <a:rPr lang="en-US" sz="2800" u="heavy" spc="-1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5C763F-1176-4C3F-ACA9-3A566F9CA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69192"/>
              </p:ext>
            </p:extLst>
          </p:nvPr>
        </p:nvGraphicFramePr>
        <p:xfrm>
          <a:off x="1380998" y="1662048"/>
          <a:ext cx="7229602" cy="420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2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3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400" dirty="0">
                          <a:solidFill>
                            <a:schemeClr val="bg1"/>
                          </a:solidFill>
                          <a:effectLst/>
                        </a:rPr>
                        <a:t>δ</a:t>
                      </a:r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R="121920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Input-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Input-b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0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43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253490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333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2534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39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2534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39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25412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37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12534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6096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01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R="125349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dirty="0">
                          <a:latin typeface="Segoe UI Symbol"/>
                          <a:cs typeface="Segoe UI Symbol"/>
                        </a:rPr>
                        <a:t>✔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6096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8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7187F1-384E-4DA5-BDB8-4210AA366F9F}"/>
              </a:ext>
            </a:extLst>
          </p:cNvPr>
          <p:cNvSpPr txBox="1">
            <a:spLocks/>
          </p:cNvSpPr>
          <p:nvPr/>
        </p:nvSpPr>
        <p:spPr>
          <a:xfrm>
            <a:off x="1458784" y="1876425"/>
            <a:ext cx="7532817" cy="857250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005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0005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Note: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C764CEB-F1BD-4362-8031-E0F8CB319A05}"/>
              </a:ext>
            </a:extLst>
          </p:cNvPr>
          <p:cNvSpPr txBox="1">
            <a:spLocks/>
          </p:cNvSpPr>
          <p:nvPr/>
        </p:nvSpPr>
        <p:spPr>
          <a:xfrm>
            <a:off x="1200824" y="2733676"/>
            <a:ext cx="7790777" cy="19570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3429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7145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Below the transition table the state which are reachable final state can be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marked,if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 it is already marked considered respectively dell value for marking .</a:t>
            </a:r>
          </a:p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If the both value reachable values final state such as F cannot be considered for marking.</a:t>
            </a:r>
          </a:p>
        </p:txBody>
      </p:sp>
    </p:spTree>
    <p:extLst>
      <p:ext uri="{BB962C8B-B14F-4D97-AF65-F5344CB8AC3E}">
        <p14:creationId xmlns:p14="http://schemas.microsoft.com/office/powerpoint/2010/main" val="157171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spc="-15" dirty="0">
                <a:solidFill>
                  <a:srgbClr val="000000"/>
                </a:solidFill>
              </a:rPr>
              <a:t>Step5:Draw</a:t>
            </a:r>
            <a:r>
              <a:rPr lang="en-US" sz="2800" spc="-165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the</a:t>
            </a:r>
            <a:r>
              <a:rPr lang="en-US" sz="2800" spc="-13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table</a:t>
            </a:r>
            <a:r>
              <a:rPr lang="en-US" sz="2800" spc="-13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filling</a:t>
            </a:r>
            <a:r>
              <a:rPr lang="en-US" sz="2800" spc="-150" dirty="0">
                <a:solidFill>
                  <a:srgbClr val="000000"/>
                </a:solidFill>
              </a:rPr>
              <a:t> </a:t>
            </a:r>
            <a:r>
              <a:rPr lang="en-US" sz="2800" spc="-15" dirty="0">
                <a:solidFill>
                  <a:srgbClr val="000000"/>
                </a:solidFill>
              </a:rPr>
              <a:t>format</a:t>
            </a:r>
            <a:r>
              <a:rPr lang="en-US" sz="2800" spc="-13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to</a:t>
            </a:r>
            <a:r>
              <a:rPr lang="en-US" sz="2800" spc="-150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mark</a:t>
            </a:r>
            <a:r>
              <a:rPr lang="en-US" sz="2800" spc="-15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the</a:t>
            </a:r>
            <a:r>
              <a:rPr lang="en-US" sz="2800" spc="-135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respective</a:t>
            </a:r>
            <a:r>
              <a:rPr lang="en-US" sz="2800" spc="-160" dirty="0">
                <a:solidFill>
                  <a:srgbClr val="000000"/>
                </a:solidFill>
              </a:rPr>
              <a:t> </a:t>
            </a:r>
            <a:r>
              <a:rPr lang="en-US" sz="2800" spc="-10" dirty="0">
                <a:solidFill>
                  <a:srgbClr val="000000"/>
                </a:solidFill>
              </a:rPr>
              <a:t>cells </a:t>
            </a:r>
            <a:r>
              <a:rPr lang="en-US" sz="2800" spc="-71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from</a:t>
            </a:r>
            <a:r>
              <a:rPr lang="en-US" sz="2800" spc="-14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the</a:t>
            </a:r>
            <a:r>
              <a:rPr lang="en-US" sz="2800" spc="-70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above</a:t>
            </a:r>
            <a:r>
              <a:rPr lang="en-US" sz="2800" spc="-8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transition</a:t>
            </a:r>
            <a:r>
              <a:rPr lang="en-US" sz="2800" spc="-85" dirty="0">
                <a:solidFill>
                  <a:srgbClr val="000000"/>
                </a:solidFill>
              </a:rPr>
              <a:t> </a:t>
            </a:r>
            <a:r>
              <a:rPr lang="en-US" sz="2800" spc="-5" dirty="0">
                <a:solidFill>
                  <a:srgbClr val="000000"/>
                </a:solidFill>
              </a:rPr>
              <a:t>table.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179A0-2F89-4E0C-9809-6E06B6D47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198469E-447C-4A08-9371-FFB87DB314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2356170"/>
              </p:ext>
            </p:extLst>
          </p:nvPr>
        </p:nvGraphicFramePr>
        <p:xfrm>
          <a:off x="1676400" y="1676400"/>
          <a:ext cx="7239000" cy="42021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61057624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20037794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121389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49288479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53744255"/>
                    </a:ext>
                  </a:extLst>
                </a:gridCol>
              </a:tblGrid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1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784561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2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501967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3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908553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4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7848442"/>
                  </a:ext>
                </a:extLst>
              </a:tr>
              <a:tr h="840422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0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1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2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r>
                        <a:rPr lang="en-US" baseline="-25000" dirty="0"/>
                        <a:t>3</a:t>
                      </a:r>
                      <a:endParaRPr lang="en-IN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7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84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pc="-40" dirty="0">
                <a:solidFill>
                  <a:srgbClr val="000000"/>
                </a:solidFill>
              </a:rPr>
              <a:t>S</a:t>
            </a:r>
            <a:r>
              <a:rPr lang="en-US" sz="2800" spc="-25" dirty="0">
                <a:solidFill>
                  <a:srgbClr val="000000"/>
                </a:solidFill>
              </a:rPr>
              <a:t>te</a:t>
            </a:r>
            <a:r>
              <a:rPr lang="en-US" sz="2800" spc="-5" dirty="0">
                <a:solidFill>
                  <a:srgbClr val="000000"/>
                </a:solidFill>
              </a:rPr>
              <a:t>p</a:t>
            </a:r>
            <a:r>
              <a:rPr lang="en-US" sz="2800" spc="-45" dirty="0">
                <a:solidFill>
                  <a:srgbClr val="000000"/>
                </a:solidFill>
              </a:rPr>
              <a:t>6</a:t>
            </a:r>
            <a:r>
              <a:rPr lang="en-US" sz="2800" spc="-30" dirty="0">
                <a:solidFill>
                  <a:srgbClr val="000000"/>
                </a:solidFill>
              </a:rPr>
              <a:t>:</a:t>
            </a:r>
            <a:r>
              <a:rPr lang="en-US" sz="2800" spc="-10" dirty="0">
                <a:solidFill>
                  <a:srgbClr val="000000"/>
                </a:solidFill>
              </a:rPr>
              <a:t>T</a:t>
            </a:r>
            <a:r>
              <a:rPr lang="en-US" sz="2800" spc="-45" dirty="0">
                <a:solidFill>
                  <a:srgbClr val="000000"/>
                </a:solidFill>
              </a:rPr>
              <a:t>h</a:t>
            </a:r>
            <a:r>
              <a:rPr lang="en-US" sz="2800" spc="-5" dirty="0">
                <a:solidFill>
                  <a:srgbClr val="000000"/>
                </a:solidFill>
              </a:rPr>
              <a:t>e</a:t>
            </a:r>
            <a:r>
              <a:rPr lang="en-US" sz="2800" spc="-160" dirty="0">
                <a:solidFill>
                  <a:srgbClr val="000000"/>
                </a:solidFill>
              </a:rPr>
              <a:t> </a:t>
            </a:r>
            <a:r>
              <a:rPr lang="en-US" sz="2800" spc="-25" dirty="0">
                <a:solidFill>
                  <a:srgbClr val="000000"/>
                </a:solidFill>
              </a:rPr>
              <a:t>f</a:t>
            </a:r>
            <a:r>
              <a:rPr lang="en-US" sz="2800" spc="-15" dirty="0">
                <a:solidFill>
                  <a:srgbClr val="000000"/>
                </a:solidFill>
              </a:rPr>
              <a:t>i</a:t>
            </a:r>
            <a:r>
              <a:rPr lang="en-US" sz="2800" spc="-35" dirty="0">
                <a:solidFill>
                  <a:srgbClr val="000000"/>
                </a:solidFill>
              </a:rPr>
              <a:t>n</a:t>
            </a:r>
            <a:r>
              <a:rPr lang="en-US" sz="2800" spc="-5" dirty="0">
                <a:solidFill>
                  <a:srgbClr val="000000"/>
                </a:solidFill>
              </a:rPr>
              <a:t>al</a:t>
            </a:r>
            <a:r>
              <a:rPr lang="en-US" sz="2800" spc="-125" dirty="0">
                <a:solidFill>
                  <a:srgbClr val="000000"/>
                </a:solidFill>
              </a:rPr>
              <a:t> </a:t>
            </a:r>
            <a:r>
              <a:rPr lang="en-US" sz="2800" spc="-35" dirty="0">
                <a:solidFill>
                  <a:srgbClr val="000000"/>
                </a:solidFill>
              </a:rPr>
              <a:t>u</a:t>
            </a:r>
            <a:r>
              <a:rPr lang="en-US" sz="2800" spc="-5" dirty="0">
                <a:solidFill>
                  <a:srgbClr val="000000"/>
                </a:solidFill>
              </a:rPr>
              <a:t>n</a:t>
            </a:r>
            <a:r>
              <a:rPr lang="en-US" sz="2800" spc="-40" dirty="0">
                <a:solidFill>
                  <a:srgbClr val="000000"/>
                </a:solidFill>
              </a:rPr>
              <a:t>m</a:t>
            </a:r>
            <a:r>
              <a:rPr lang="en-US" sz="2800" spc="-20" dirty="0">
                <a:solidFill>
                  <a:srgbClr val="000000"/>
                </a:solidFill>
              </a:rPr>
              <a:t>a</a:t>
            </a:r>
            <a:r>
              <a:rPr lang="en-US" sz="2800" spc="-30" dirty="0">
                <a:solidFill>
                  <a:srgbClr val="000000"/>
                </a:solidFill>
              </a:rPr>
              <a:t>r</a:t>
            </a:r>
            <a:r>
              <a:rPr lang="en-US" sz="2800" spc="-5" dirty="0">
                <a:solidFill>
                  <a:srgbClr val="000000"/>
                </a:solidFill>
              </a:rPr>
              <a:t>k</a:t>
            </a:r>
            <a:r>
              <a:rPr lang="en-US" sz="2800" spc="-15" dirty="0">
                <a:solidFill>
                  <a:srgbClr val="000000"/>
                </a:solidFill>
              </a:rPr>
              <a:t>e</a:t>
            </a:r>
            <a:r>
              <a:rPr lang="en-US" sz="2800" spc="-5" dirty="0">
                <a:solidFill>
                  <a:srgbClr val="000000"/>
                </a:solidFill>
              </a:rPr>
              <a:t>d</a:t>
            </a:r>
            <a:r>
              <a:rPr lang="en-US" sz="2800" spc="-155" dirty="0">
                <a:solidFill>
                  <a:srgbClr val="000000"/>
                </a:solidFill>
              </a:rPr>
              <a:t> </a:t>
            </a:r>
            <a:r>
              <a:rPr lang="en-US" sz="2800" spc="-20" dirty="0">
                <a:solidFill>
                  <a:srgbClr val="000000"/>
                </a:solidFill>
              </a:rPr>
              <a:t>s</a:t>
            </a:r>
            <a:r>
              <a:rPr lang="en-US" sz="2800" spc="-25" dirty="0">
                <a:solidFill>
                  <a:srgbClr val="000000"/>
                </a:solidFill>
              </a:rPr>
              <a:t>t</a:t>
            </a:r>
            <a:r>
              <a:rPr lang="en-US" sz="2800" spc="-20" dirty="0">
                <a:solidFill>
                  <a:srgbClr val="000000"/>
                </a:solidFill>
              </a:rPr>
              <a:t>a</a:t>
            </a:r>
            <a:r>
              <a:rPr lang="en-US" sz="2800" spc="-25" dirty="0">
                <a:solidFill>
                  <a:srgbClr val="000000"/>
                </a:solidFill>
              </a:rPr>
              <a:t>t</a:t>
            </a:r>
            <a:r>
              <a:rPr lang="en-US" sz="2800" spc="-10" dirty="0">
                <a:solidFill>
                  <a:srgbClr val="000000"/>
                </a:solidFill>
              </a:rPr>
              <a:t>e</a:t>
            </a:r>
            <a:r>
              <a:rPr lang="en-US" sz="2800" spc="-35" dirty="0">
                <a:solidFill>
                  <a:srgbClr val="000000"/>
                </a:solidFill>
              </a:rPr>
              <a:t>s</a:t>
            </a:r>
            <a:r>
              <a:rPr lang="en-US" sz="2800" spc="-5" dirty="0">
                <a:solidFill>
                  <a:srgbClr val="000000"/>
                </a:solidFill>
              </a:rPr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FDFCA-4649-4622-BFA4-C547BED2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IN" sz="3200" spc="-5" dirty="0">
                <a:latin typeface="Calibri"/>
                <a:cs typeface="Calibri"/>
              </a:rPr>
              <a:t>The</a:t>
            </a:r>
            <a:r>
              <a:rPr lang="en-IN" sz="3200" spc="-90" dirty="0">
                <a:latin typeface="Calibri"/>
                <a:cs typeface="Calibri"/>
              </a:rPr>
              <a:t> </a:t>
            </a:r>
            <a:r>
              <a:rPr lang="en-IN" sz="3200" spc="-5" dirty="0">
                <a:latin typeface="Calibri"/>
                <a:cs typeface="Calibri"/>
              </a:rPr>
              <a:t>unmarked</a:t>
            </a:r>
            <a:r>
              <a:rPr lang="en-IN" sz="3200" spc="-90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states</a:t>
            </a:r>
            <a:r>
              <a:rPr lang="en-IN" sz="3200" spc="-80" dirty="0">
                <a:latin typeface="Calibri"/>
                <a:cs typeface="Calibri"/>
              </a:rPr>
              <a:t> </a:t>
            </a:r>
            <a:r>
              <a:rPr lang="en-IN" sz="3200" spc="5" dirty="0">
                <a:latin typeface="Calibri"/>
                <a:cs typeface="Calibri"/>
              </a:rPr>
              <a:t>are,</a:t>
            </a:r>
            <a:endParaRPr lang="en-IN" sz="3200" dirty="0">
              <a:latin typeface="Calibri"/>
              <a:cs typeface="Calibri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sz="3200" spc="-5" dirty="0">
                <a:latin typeface="Calibri"/>
                <a:cs typeface="Calibri"/>
              </a:rPr>
              <a:t>Therefore,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total</a:t>
            </a:r>
            <a:r>
              <a:rPr lang="en-US" sz="3200" spc="-2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number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of</a:t>
            </a:r>
            <a:r>
              <a:rPr lang="en-US" sz="3200" spc="-55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states</a:t>
            </a:r>
            <a:r>
              <a:rPr lang="en-US" sz="3200" spc="-8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25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reduced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from</a:t>
            </a:r>
            <a:r>
              <a:rPr lang="en-US" sz="3200" spc="-65" dirty="0">
                <a:latin typeface="Calibri"/>
                <a:cs typeface="Calibri"/>
              </a:rPr>
              <a:t> </a:t>
            </a:r>
            <a:r>
              <a:rPr lang="en-US" sz="3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5</a:t>
            </a:r>
            <a:r>
              <a:rPr lang="en-US" sz="3200" b="1" spc="-30" dirty="0">
                <a:latin typeface="Calibri"/>
                <a:cs typeface="Calibri"/>
              </a:rPr>
              <a:t> </a:t>
            </a:r>
            <a:r>
              <a:rPr lang="en-US" sz="3200" spc="-5" dirty="0">
                <a:latin typeface="Calibri"/>
                <a:cs typeface="Calibri"/>
              </a:rPr>
              <a:t>to</a:t>
            </a:r>
            <a:r>
              <a:rPr lang="en-US" sz="3200" spc="-35" dirty="0">
                <a:latin typeface="Calibri"/>
                <a:cs typeface="Calibri"/>
              </a:rPr>
              <a:t> </a:t>
            </a:r>
            <a:r>
              <a:rPr lang="en-US" sz="3200" b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</a:t>
            </a:r>
            <a:r>
              <a:rPr lang="en-US" sz="3200" dirty="0">
                <a:latin typeface="Calibri"/>
                <a:cs typeface="Calibri"/>
              </a:rPr>
              <a:t>.</a:t>
            </a:r>
          </a:p>
          <a:p>
            <a:endParaRPr lang="en-I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1490AAC-6D1A-4D91-9B7E-25473C24B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78332"/>
              </p:ext>
            </p:extLst>
          </p:nvPr>
        </p:nvGraphicFramePr>
        <p:xfrm>
          <a:off x="1447800" y="3290265"/>
          <a:ext cx="6934200" cy="70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440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solidFill>
                      <a:srgbClr val="CFD3EA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(q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,q</a:t>
                      </a:r>
                      <a:r>
                        <a:rPr sz="1800" spc="-5" baseline="-250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solidFill>
                      <a:srgbClr val="CFD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641260"/>
      </p:ext>
    </p:extLst>
  </p:cSld>
  <p:clrMapOvr>
    <a:masterClrMapping/>
  </p:clrMapOvr>
</p:sld>
</file>

<file path=ppt/theme/theme1.xml><?xml version="1.0" encoding="utf-8"?>
<a:theme xmlns:a="http://schemas.openxmlformats.org/drawingml/2006/main" name="Presidency colleg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residency colleg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presidency theme</Template>
  <TotalTime>27821</TotalTime>
  <Words>345</Words>
  <Application>Microsoft Office PowerPoint</Application>
  <PresentationFormat>On-screen Show (4:3)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Segoe UI Symbol</vt:lpstr>
      <vt:lpstr>Presidency college template</vt:lpstr>
      <vt:lpstr>1_Presidency college template</vt:lpstr>
      <vt:lpstr>THEORY OF COMPUTATION</vt:lpstr>
      <vt:lpstr>Problem 4: </vt:lpstr>
      <vt:lpstr>Step2: Draw the upper triangular matrix for the given problem.</vt:lpstr>
      <vt:lpstr>Step3:Draw the table filling format to mark the state reachable to  final state.</vt:lpstr>
      <vt:lpstr>Step4: Draw the transition table for unmarked states.</vt:lpstr>
      <vt:lpstr>PowerPoint Presentation</vt:lpstr>
      <vt:lpstr>Step5:Draw the table filling format to mark the respective cells  from the above transition table.</vt:lpstr>
      <vt:lpstr>Step6:The final unmarked states.</vt:lpstr>
    </vt:vector>
  </TitlesOfParts>
  <Company>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prc</dc:creator>
  <cp:lastModifiedBy>Manoj Naik</cp:lastModifiedBy>
  <cp:revision>263</cp:revision>
  <dcterms:created xsi:type="dcterms:W3CDTF">2014-06-17T04:45:48Z</dcterms:created>
  <dcterms:modified xsi:type="dcterms:W3CDTF">2024-05-01T15:59:52Z</dcterms:modified>
</cp:coreProperties>
</file>